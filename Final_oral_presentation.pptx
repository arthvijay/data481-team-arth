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Open Sans SemiBold"/>
      <p:regular r:id="rId34"/>
      <p:bold r:id="rId35"/>
      <p:italic r:id="rId36"/>
      <p:boldItalic r:id="rId37"/>
    </p:embeddedFont>
    <p:embeddedFont>
      <p:font typeface="Open Sans Medium"/>
      <p:regular r:id="rId38"/>
      <p:bold r:id="rId39"/>
      <p:italic r:id="rId40"/>
      <p:boldItalic r:id="rId41"/>
    </p:embeddedFont>
    <p:embeddedFont>
      <p:font typeface="Source Serif 4"/>
      <p:regular r:id="rId42"/>
      <p:bold r:id="rId43"/>
      <p:italic r:id="rId44"/>
      <p:boldItalic r:id="rId45"/>
    </p:embeddedFont>
    <p:embeddedFont>
      <p:font typeface="Open Sans Light"/>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Medium-italic.fntdata"/><Relationship Id="rId42" Type="http://schemas.openxmlformats.org/officeDocument/2006/relationships/font" Target="fonts/SourceSerif4-regular.fntdata"/><Relationship Id="rId41" Type="http://schemas.openxmlformats.org/officeDocument/2006/relationships/font" Target="fonts/OpenSansMedium-boldItalic.fntdata"/><Relationship Id="rId44" Type="http://schemas.openxmlformats.org/officeDocument/2006/relationships/font" Target="fonts/SourceSerif4-italic.fntdata"/><Relationship Id="rId43" Type="http://schemas.openxmlformats.org/officeDocument/2006/relationships/font" Target="fonts/SourceSerif4-bold.fntdata"/><Relationship Id="rId46" Type="http://schemas.openxmlformats.org/officeDocument/2006/relationships/font" Target="fonts/OpenSansLight-regular.fntdata"/><Relationship Id="rId45" Type="http://schemas.openxmlformats.org/officeDocument/2006/relationships/font" Target="fonts/SourceSerif4-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Light-italic.fntdata"/><Relationship Id="rId47" Type="http://schemas.openxmlformats.org/officeDocument/2006/relationships/font" Target="fonts/OpenSansLight-bold.fntdata"/><Relationship Id="rId49" Type="http://schemas.openxmlformats.org/officeDocument/2006/relationships/font" Target="fonts/OpenSa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OpenSansSemiBold-bold.fntdata"/><Relationship Id="rId34" Type="http://schemas.openxmlformats.org/officeDocument/2006/relationships/font" Target="fonts/OpenSansSemiBold-regular.fntdata"/><Relationship Id="rId37" Type="http://schemas.openxmlformats.org/officeDocument/2006/relationships/font" Target="fonts/OpenSansSemiBold-boldItalic.fntdata"/><Relationship Id="rId36" Type="http://schemas.openxmlformats.org/officeDocument/2006/relationships/font" Target="fonts/OpenSansSemiBold-italic.fntdata"/><Relationship Id="rId39" Type="http://schemas.openxmlformats.org/officeDocument/2006/relationships/font" Target="fonts/OpenSansMedium-bold.fntdata"/><Relationship Id="rId38" Type="http://schemas.openxmlformats.org/officeDocument/2006/relationships/font" Target="fonts/OpenSansMedium-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b7b185e1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b7b185e1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b7b185e1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b7b185e1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b7b185e1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b7b185e1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b7b185e1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b7b185e1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b7b185e1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b7b185e1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b7b185e12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b7b185e12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b7b185e12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b7b185e1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b7b185e12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b7b185e12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b7b185e12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b7b185e12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b7b185e12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b7b185e1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b7b185e1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b7b185e1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b7b185e12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b7b185e12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b7b185e12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b7b185e12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b7b185e12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b7b185e12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7b185e12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b7b185e12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b7b185e12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b7b185e12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b7b185e12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b7b185e12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b7b185e12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b7b185e12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b7b185e12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b7b185e12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b7b185e12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b7b185e12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b7b185e12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db7b185e12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b7b185e12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db7b185e12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db7b185e12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db7b185e12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b7b185e12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b7b185e12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b7b185e12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db7b185e12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b7b185e12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b7b185e12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GAN: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The discriminator only cares if the signal looks real — not if it helps classify VHT. Collapsed to near-zero loss by epoch 8.</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Diffusion:</a:t>
            </a:r>
            <a:endParaRPr b="1">
              <a:solidFill>
                <a:schemeClr val="dk1"/>
              </a:solidFill>
            </a:endParaRPr>
          </a:p>
          <a:p>
            <a:pPr indent="0" lvl="0" marL="381000" marR="381000" rtl="0" algn="l">
              <a:lnSpc>
                <a:spcPct val="115000"/>
              </a:lnSpc>
              <a:spcBef>
                <a:spcPts val="1200"/>
              </a:spcBef>
              <a:spcAft>
                <a:spcPts val="0"/>
              </a:spcAft>
              <a:buNone/>
            </a:pPr>
            <a:r>
              <a:rPr lang="en">
                <a:solidFill>
                  <a:schemeClr val="dk1"/>
                </a:solidFill>
              </a:rPr>
              <a:t>Reconstructing high-res from low-res is an underdetermined problem — infinitely many valid solutions exist. The model found realistic ones, not discriminative ones. HT dropped entirely to 0.0%.</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Hallucinating missing content produces signals that look right but carry no discriminative information. Realism and discriminability are not the same thing.</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b7b185e12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db7b185e12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10" Type="http://schemas.openxmlformats.org/officeDocument/2006/relationships/image" Target="../media/image31.png"/><Relationship Id="rId9" Type="http://schemas.openxmlformats.org/officeDocument/2006/relationships/image" Target="../media/image2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3.png"/><Relationship Id="rId7" Type="http://schemas.openxmlformats.org/officeDocument/2006/relationships/image" Target="../media/image22.png"/><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6.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0.png"/><Relationship Id="rId5" Type="http://schemas.openxmlformats.org/officeDocument/2006/relationships/image" Target="../media/image47.png"/><Relationship Id="rId6"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6.png"/><Relationship Id="rId10" Type="http://schemas.openxmlformats.org/officeDocument/2006/relationships/image" Target="../media/image61.png"/><Relationship Id="rId9" Type="http://schemas.openxmlformats.org/officeDocument/2006/relationships/image" Target="../media/image52.png"/><Relationship Id="rId5" Type="http://schemas.openxmlformats.org/officeDocument/2006/relationships/image" Target="../media/image43.png"/><Relationship Id="rId6" Type="http://schemas.openxmlformats.org/officeDocument/2006/relationships/image" Target="../media/image45.png"/><Relationship Id="rId7" Type="http://schemas.openxmlformats.org/officeDocument/2006/relationships/image" Target="../media/image44.png"/><Relationship Id="rId8"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3.png"/><Relationship Id="rId4" Type="http://schemas.openxmlformats.org/officeDocument/2006/relationships/image" Target="../media/image49.png"/><Relationship Id="rId9" Type="http://schemas.openxmlformats.org/officeDocument/2006/relationships/image" Target="../media/image63.png"/><Relationship Id="rId5" Type="http://schemas.openxmlformats.org/officeDocument/2006/relationships/image" Target="../media/image48.png"/><Relationship Id="rId6" Type="http://schemas.openxmlformats.org/officeDocument/2006/relationships/image" Target="../media/image54.png"/><Relationship Id="rId7" Type="http://schemas.openxmlformats.org/officeDocument/2006/relationships/image" Target="../media/image46.png"/><Relationship Id="rId8" Type="http://schemas.openxmlformats.org/officeDocument/2006/relationships/image" Target="../media/image6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5.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2.png"/><Relationship Id="rId4" Type="http://schemas.openxmlformats.org/officeDocument/2006/relationships/image" Target="../media/image51.png"/><Relationship Id="rId5" Type="http://schemas.openxmlformats.org/officeDocument/2006/relationships/image" Target="../media/image64.png"/><Relationship Id="rId6" Type="http://schemas.openxmlformats.org/officeDocument/2006/relationships/image" Target="../media/image57.png"/><Relationship Id="rId7" Type="http://schemas.openxmlformats.org/officeDocument/2006/relationships/image" Target="../media/image59.png"/><Relationship Id="rId8" Type="http://schemas.openxmlformats.org/officeDocument/2006/relationships/image" Target="../media/image6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2183875"/>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234050" y="2372125"/>
            <a:ext cx="4838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DATA 481 | Networks</a:t>
            </a:r>
            <a:endParaRPr b="1" sz="3300">
              <a:solidFill>
                <a:schemeClr val="lt1"/>
              </a:solidFill>
              <a:latin typeface="Open Sans"/>
              <a:ea typeface="Open Sans"/>
              <a:cs typeface="Open Sans"/>
              <a:sym typeface="Open Sans"/>
            </a:endParaRPr>
          </a:p>
        </p:txBody>
      </p:sp>
      <p:pic>
        <p:nvPicPr>
          <p:cNvPr id="56" name="Google Shape;56;p13"/>
          <p:cNvPicPr preferRelativeResize="0"/>
          <p:nvPr/>
        </p:nvPicPr>
        <p:blipFill>
          <a:blip r:embed="rId3">
            <a:alphaModFix/>
          </a:blip>
          <a:stretch>
            <a:fillRect/>
          </a:stretch>
        </p:blipFill>
        <p:spPr>
          <a:xfrm>
            <a:off x="643102" y="689825"/>
            <a:ext cx="7857799" cy="967800"/>
          </a:xfrm>
          <a:prstGeom prst="rect">
            <a:avLst/>
          </a:prstGeom>
          <a:noFill/>
          <a:ln>
            <a:noFill/>
          </a:ln>
        </p:spPr>
      </p:pic>
      <p:sp>
        <p:nvSpPr>
          <p:cNvPr id="57" name="Google Shape;57;p13"/>
          <p:cNvSpPr txBox="1"/>
          <p:nvPr/>
        </p:nvSpPr>
        <p:spPr>
          <a:xfrm>
            <a:off x="572400" y="3609700"/>
            <a:ext cx="7999200" cy="81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900">
                <a:solidFill>
                  <a:srgbClr val="469CD4"/>
                </a:solidFill>
                <a:latin typeface="Source Serif 4"/>
                <a:ea typeface="Source Serif 4"/>
                <a:cs typeface="Source Serif 4"/>
                <a:sym typeface="Source Serif 4"/>
              </a:rPr>
              <a:t>Sampling rate constraints, not model complexity, fundamentally limit WiFi protocol classification from low-resolution IQ signals.</a:t>
            </a:r>
            <a:endParaRPr sz="1900">
              <a:solidFill>
                <a:srgbClr val="469CD4"/>
              </a:solidFill>
              <a:latin typeface="Source Serif 4"/>
              <a:ea typeface="Source Serif 4"/>
              <a:cs typeface="Source Serif 4"/>
              <a:sym typeface="Source Serif 4"/>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224125" y="188250"/>
            <a:ext cx="4838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What are networks?</a:t>
            </a:r>
            <a:endParaRPr b="1" sz="3300">
              <a:solidFill>
                <a:schemeClr val="lt1"/>
              </a:solidFill>
              <a:latin typeface="Open Sans"/>
              <a:ea typeface="Open Sans"/>
              <a:cs typeface="Open Sans"/>
              <a:sym typeface="Open Sans"/>
            </a:endParaRPr>
          </a:p>
        </p:txBody>
      </p:sp>
      <p:sp>
        <p:nvSpPr>
          <p:cNvPr id="64" name="Google Shape;64;p14"/>
          <p:cNvSpPr txBox="1"/>
          <p:nvPr/>
        </p:nvSpPr>
        <p:spPr>
          <a:xfrm>
            <a:off x="297650" y="1220375"/>
            <a:ext cx="83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device around you is constantly broadcasting, but how does a receiver know </a:t>
            </a:r>
            <a:r>
              <a:rPr i="1" lang="en">
                <a:solidFill>
                  <a:srgbClr val="469CD4"/>
                </a:solidFill>
                <a:latin typeface="Open Sans"/>
                <a:ea typeface="Open Sans"/>
                <a:cs typeface="Open Sans"/>
                <a:sym typeface="Open Sans"/>
              </a:rPr>
              <a:t>who</a:t>
            </a:r>
            <a:r>
              <a:rPr lang="en">
                <a:solidFill>
                  <a:srgbClr val="469CD4"/>
                </a:solidFill>
                <a:latin typeface="Open Sans"/>
                <a:ea typeface="Open Sans"/>
                <a:cs typeface="Open Sans"/>
                <a:sym typeface="Open Sans"/>
              </a:rPr>
              <a:t> sent what?</a:t>
            </a:r>
            <a:endParaRPr sz="1700">
              <a:solidFill>
                <a:srgbClr val="469CD4"/>
              </a:solidFill>
              <a:latin typeface="Open Sans"/>
              <a:ea typeface="Open Sans"/>
              <a:cs typeface="Open Sans"/>
              <a:sym typeface="Open Sans"/>
            </a:endParaRPr>
          </a:p>
        </p:txBody>
      </p:sp>
      <p:pic>
        <p:nvPicPr>
          <p:cNvPr id="65" name="Google Shape;65;p14"/>
          <p:cNvPicPr preferRelativeResize="0"/>
          <p:nvPr/>
        </p:nvPicPr>
        <p:blipFill>
          <a:blip r:embed="rId3">
            <a:alphaModFix/>
          </a:blip>
          <a:stretch>
            <a:fillRect/>
          </a:stretch>
        </p:blipFill>
        <p:spPr>
          <a:xfrm>
            <a:off x="1601572" y="1823397"/>
            <a:ext cx="1457947" cy="971965"/>
          </a:xfrm>
          <a:prstGeom prst="rect">
            <a:avLst/>
          </a:prstGeom>
          <a:noFill/>
          <a:ln>
            <a:noFill/>
          </a:ln>
        </p:spPr>
      </p:pic>
      <p:pic>
        <p:nvPicPr>
          <p:cNvPr id="66" name="Google Shape;66;p14"/>
          <p:cNvPicPr preferRelativeResize="0"/>
          <p:nvPr/>
        </p:nvPicPr>
        <p:blipFill>
          <a:blip r:embed="rId4">
            <a:alphaModFix/>
          </a:blip>
          <a:stretch>
            <a:fillRect/>
          </a:stretch>
        </p:blipFill>
        <p:spPr>
          <a:xfrm>
            <a:off x="1792833" y="1864680"/>
            <a:ext cx="1073177" cy="649879"/>
          </a:xfrm>
          <a:prstGeom prst="rect">
            <a:avLst/>
          </a:prstGeom>
          <a:noFill/>
          <a:ln>
            <a:noFill/>
          </a:ln>
        </p:spPr>
      </p:pic>
      <p:cxnSp>
        <p:nvCxnSpPr>
          <p:cNvPr id="67" name="Google Shape;67;p14"/>
          <p:cNvCxnSpPr>
            <a:stCxn id="65" idx="3"/>
          </p:cNvCxnSpPr>
          <p:nvPr/>
        </p:nvCxnSpPr>
        <p:spPr>
          <a:xfrm>
            <a:off x="3059519" y="2309379"/>
            <a:ext cx="306600" cy="1200"/>
          </a:xfrm>
          <a:prstGeom prst="straightConnector1">
            <a:avLst/>
          </a:prstGeom>
          <a:noFill/>
          <a:ln cap="flat" cmpd="sng" w="6925">
            <a:solidFill>
              <a:schemeClr val="dk2"/>
            </a:solidFill>
            <a:prstDash val="solid"/>
            <a:round/>
            <a:headEnd len="med" w="med" type="none"/>
            <a:tailEnd len="med" w="med" type="triangle"/>
          </a:ln>
        </p:spPr>
      </p:cxnSp>
      <p:pic>
        <p:nvPicPr>
          <p:cNvPr id="68" name="Google Shape;68;p14"/>
          <p:cNvPicPr preferRelativeResize="0"/>
          <p:nvPr/>
        </p:nvPicPr>
        <p:blipFill>
          <a:blip r:embed="rId5">
            <a:alphaModFix/>
          </a:blip>
          <a:stretch>
            <a:fillRect/>
          </a:stretch>
        </p:blipFill>
        <p:spPr>
          <a:xfrm>
            <a:off x="3506840" y="1868268"/>
            <a:ext cx="2296616" cy="883313"/>
          </a:xfrm>
          <a:prstGeom prst="rect">
            <a:avLst/>
          </a:prstGeom>
          <a:noFill/>
          <a:ln>
            <a:noFill/>
          </a:ln>
        </p:spPr>
      </p:pic>
      <p:cxnSp>
        <p:nvCxnSpPr>
          <p:cNvPr id="69" name="Google Shape;69;p14"/>
          <p:cNvCxnSpPr/>
          <p:nvPr/>
        </p:nvCxnSpPr>
        <p:spPr>
          <a:xfrm rot="10800000">
            <a:off x="3061336" y="2392665"/>
            <a:ext cx="294000" cy="11400"/>
          </a:xfrm>
          <a:prstGeom prst="straightConnector1">
            <a:avLst/>
          </a:prstGeom>
          <a:noFill/>
          <a:ln cap="flat" cmpd="sng" w="6925">
            <a:solidFill>
              <a:schemeClr val="dk2"/>
            </a:solidFill>
            <a:prstDash val="solid"/>
            <a:round/>
            <a:headEnd len="med" w="med" type="none"/>
            <a:tailEnd len="med" w="med" type="triangle"/>
          </a:ln>
        </p:spPr>
      </p:cxnSp>
      <p:pic>
        <p:nvPicPr>
          <p:cNvPr id="70" name="Google Shape;70;p14"/>
          <p:cNvPicPr preferRelativeResize="0"/>
          <p:nvPr/>
        </p:nvPicPr>
        <p:blipFill>
          <a:blip r:embed="rId6">
            <a:alphaModFix/>
          </a:blip>
          <a:stretch>
            <a:fillRect/>
          </a:stretch>
        </p:blipFill>
        <p:spPr>
          <a:xfrm>
            <a:off x="6263443" y="1620572"/>
            <a:ext cx="1378725" cy="1378725"/>
          </a:xfrm>
          <a:prstGeom prst="rect">
            <a:avLst/>
          </a:prstGeom>
          <a:noFill/>
          <a:ln>
            <a:noFill/>
          </a:ln>
        </p:spPr>
      </p:pic>
      <p:cxnSp>
        <p:nvCxnSpPr>
          <p:cNvPr id="71" name="Google Shape;71;p14"/>
          <p:cNvCxnSpPr/>
          <p:nvPr/>
        </p:nvCxnSpPr>
        <p:spPr>
          <a:xfrm>
            <a:off x="5956873" y="2308834"/>
            <a:ext cx="306600" cy="1200"/>
          </a:xfrm>
          <a:prstGeom prst="straightConnector1">
            <a:avLst/>
          </a:prstGeom>
          <a:noFill/>
          <a:ln cap="flat" cmpd="sng" w="6925">
            <a:solidFill>
              <a:schemeClr val="dk2"/>
            </a:solidFill>
            <a:prstDash val="solid"/>
            <a:round/>
            <a:headEnd len="med" w="med" type="none"/>
            <a:tailEnd len="med" w="med" type="triangle"/>
          </a:ln>
        </p:spPr>
      </p:cxnSp>
      <p:cxnSp>
        <p:nvCxnSpPr>
          <p:cNvPr id="72" name="Google Shape;72;p14"/>
          <p:cNvCxnSpPr/>
          <p:nvPr/>
        </p:nvCxnSpPr>
        <p:spPr>
          <a:xfrm rot="10800000">
            <a:off x="5954889" y="2392665"/>
            <a:ext cx="294000" cy="11400"/>
          </a:xfrm>
          <a:prstGeom prst="straightConnector1">
            <a:avLst/>
          </a:prstGeom>
          <a:noFill/>
          <a:ln cap="flat" cmpd="sng" w="6925">
            <a:solidFill>
              <a:schemeClr val="dk2"/>
            </a:solidFill>
            <a:prstDash val="solid"/>
            <a:round/>
            <a:headEnd len="med" w="med" type="none"/>
            <a:tailEnd len="med" w="med" type="triangle"/>
          </a:ln>
        </p:spPr>
      </p:cxnSp>
      <p:pic>
        <p:nvPicPr>
          <p:cNvPr id="73" name="Google Shape;73;p14"/>
          <p:cNvPicPr preferRelativeResize="0"/>
          <p:nvPr/>
        </p:nvPicPr>
        <p:blipFill rotWithShape="1">
          <a:blip r:embed="rId7">
            <a:alphaModFix/>
          </a:blip>
          <a:srcRect b="0" l="0" r="49744" t="0"/>
          <a:stretch/>
        </p:blipFill>
        <p:spPr>
          <a:xfrm>
            <a:off x="18245" y="3222293"/>
            <a:ext cx="2296602" cy="928250"/>
          </a:xfrm>
          <a:prstGeom prst="rect">
            <a:avLst/>
          </a:prstGeom>
          <a:noFill/>
          <a:ln>
            <a:noFill/>
          </a:ln>
        </p:spPr>
      </p:pic>
      <p:pic>
        <p:nvPicPr>
          <p:cNvPr id="74" name="Google Shape;74;p14"/>
          <p:cNvPicPr preferRelativeResize="0"/>
          <p:nvPr/>
        </p:nvPicPr>
        <p:blipFill rotWithShape="1">
          <a:blip r:embed="rId8">
            <a:alphaModFix/>
          </a:blip>
          <a:srcRect b="0" l="3110" r="0" t="0"/>
          <a:stretch/>
        </p:blipFill>
        <p:spPr>
          <a:xfrm>
            <a:off x="2354950" y="3207990"/>
            <a:ext cx="2225151" cy="928150"/>
          </a:xfrm>
          <a:prstGeom prst="rect">
            <a:avLst/>
          </a:prstGeom>
          <a:noFill/>
          <a:ln>
            <a:noFill/>
          </a:ln>
        </p:spPr>
      </p:pic>
      <p:pic>
        <p:nvPicPr>
          <p:cNvPr id="75" name="Google Shape;75;p14"/>
          <p:cNvPicPr preferRelativeResize="0"/>
          <p:nvPr/>
        </p:nvPicPr>
        <p:blipFill rotWithShape="1">
          <a:blip r:embed="rId9">
            <a:alphaModFix/>
          </a:blip>
          <a:srcRect b="0" l="3120" r="0" t="0"/>
          <a:stretch/>
        </p:blipFill>
        <p:spPr>
          <a:xfrm>
            <a:off x="4652025" y="3205943"/>
            <a:ext cx="2225151" cy="928250"/>
          </a:xfrm>
          <a:prstGeom prst="rect">
            <a:avLst/>
          </a:prstGeom>
          <a:noFill/>
          <a:ln>
            <a:noFill/>
          </a:ln>
        </p:spPr>
      </p:pic>
      <p:pic>
        <p:nvPicPr>
          <p:cNvPr id="76" name="Google Shape;76;p14"/>
          <p:cNvPicPr preferRelativeResize="0"/>
          <p:nvPr/>
        </p:nvPicPr>
        <p:blipFill rotWithShape="1">
          <a:blip r:embed="rId10">
            <a:alphaModFix/>
          </a:blip>
          <a:srcRect b="0" l="3110" r="0" t="0"/>
          <a:stretch/>
        </p:blipFill>
        <p:spPr>
          <a:xfrm>
            <a:off x="6904779" y="3199918"/>
            <a:ext cx="2225151" cy="928150"/>
          </a:xfrm>
          <a:prstGeom prst="rect">
            <a:avLst/>
          </a:prstGeom>
          <a:noFill/>
          <a:ln>
            <a:noFill/>
          </a:ln>
        </p:spPr>
      </p:pic>
      <p:cxnSp>
        <p:nvCxnSpPr>
          <p:cNvPr id="77" name="Google Shape;77;p14"/>
          <p:cNvCxnSpPr>
            <a:stCxn id="68" idx="2"/>
            <a:endCxn id="73" idx="0"/>
          </p:cNvCxnSpPr>
          <p:nvPr/>
        </p:nvCxnSpPr>
        <p:spPr>
          <a:xfrm rot="5400000">
            <a:off x="2675448" y="1242581"/>
            <a:ext cx="470700" cy="3488700"/>
          </a:xfrm>
          <a:prstGeom prst="bentConnector3">
            <a:avLst>
              <a:gd fmla="val 50001" name="adj1"/>
            </a:avLst>
          </a:prstGeom>
          <a:noFill/>
          <a:ln cap="flat" cmpd="sng" w="9525">
            <a:solidFill>
              <a:schemeClr val="dk2"/>
            </a:solidFill>
            <a:prstDash val="solid"/>
            <a:round/>
            <a:headEnd len="med" w="med" type="none"/>
            <a:tailEnd len="med" w="med" type="none"/>
          </a:ln>
        </p:spPr>
      </p:cxnSp>
      <p:cxnSp>
        <p:nvCxnSpPr>
          <p:cNvPr id="78" name="Google Shape;78;p14"/>
          <p:cNvCxnSpPr>
            <a:stCxn id="68" idx="2"/>
            <a:endCxn id="75" idx="0"/>
          </p:cNvCxnSpPr>
          <p:nvPr/>
        </p:nvCxnSpPr>
        <p:spPr>
          <a:xfrm flipH="1" rot="-5400000">
            <a:off x="4982598" y="2424131"/>
            <a:ext cx="454500" cy="1109400"/>
          </a:xfrm>
          <a:prstGeom prst="bentConnector3">
            <a:avLst>
              <a:gd fmla="val 49985" name="adj1"/>
            </a:avLst>
          </a:prstGeom>
          <a:noFill/>
          <a:ln cap="flat" cmpd="sng" w="9525">
            <a:solidFill>
              <a:schemeClr val="dk2"/>
            </a:solidFill>
            <a:prstDash val="solid"/>
            <a:round/>
            <a:headEnd len="med" w="med" type="none"/>
            <a:tailEnd len="med" w="med" type="none"/>
          </a:ln>
        </p:spPr>
      </p:cxnSp>
      <p:cxnSp>
        <p:nvCxnSpPr>
          <p:cNvPr id="79" name="Google Shape;79;p14"/>
          <p:cNvCxnSpPr>
            <a:stCxn id="68" idx="2"/>
            <a:endCxn id="76" idx="0"/>
          </p:cNvCxnSpPr>
          <p:nvPr/>
        </p:nvCxnSpPr>
        <p:spPr>
          <a:xfrm flipH="1" rot="-5400000">
            <a:off x="6112098" y="1294631"/>
            <a:ext cx="448200" cy="3362100"/>
          </a:xfrm>
          <a:prstGeom prst="bentConnector3">
            <a:avLst>
              <a:gd fmla="val 50015" name="adj1"/>
            </a:avLst>
          </a:prstGeom>
          <a:noFill/>
          <a:ln cap="flat" cmpd="sng" w="9525">
            <a:solidFill>
              <a:schemeClr val="dk2"/>
            </a:solidFill>
            <a:prstDash val="solid"/>
            <a:round/>
            <a:headEnd len="med" w="med" type="none"/>
            <a:tailEnd len="med" w="med" type="none"/>
          </a:ln>
        </p:spPr>
      </p:cxnSp>
      <p:cxnSp>
        <p:nvCxnSpPr>
          <p:cNvPr id="80" name="Google Shape;80;p14"/>
          <p:cNvCxnSpPr>
            <a:stCxn id="68" idx="2"/>
            <a:endCxn id="74" idx="0"/>
          </p:cNvCxnSpPr>
          <p:nvPr/>
        </p:nvCxnSpPr>
        <p:spPr>
          <a:xfrm rot="5400000">
            <a:off x="3833148" y="2385881"/>
            <a:ext cx="456300" cy="1187700"/>
          </a:xfrm>
          <a:prstGeom prst="bentConnector3">
            <a:avLst>
              <a:gd fmla="val 50012" name="adj1"/>
            </a:avLst>
          </a:prstGeom>
          <a:noFill/>
          <a:ln cap="flat" cmpd="sng" w="9525">
            <a:solidFill>
              <a:schemeClr val="dk2"/>
            </a:solidFill>
            <a:prstDash val="solid"/>
            <a:round/>
            <a:headEnd len="med" w="med" type="none"/>
            <a:tailEnd len="med" w="med" type="none"/>
          </a:ln>
        </p:spPr>
      </p:cxnSp>
      <p:sp>
        <p:nvSpPr>
          <p:cNvPr id="81" name="Google Shape;81;p14"/>
          <p:cNvSpPr txBox="1"/>
          <p:nvPr/>
        </p:nvSpPr>
        <p:spPr>
          <a:xfrm>
            <a:off x="341184" y="4281057"/>
            <a:ext cx="8629500" cy="648000"/>
          </a:xfrm>
          <a:prstGeom prst="rect">
            <a:avLst/>
          </a:prstGeom>
          <a:noFill/>
          <a:ln>
            <a:noFill/>
          </a:ln>
        </p:spPr>
        <p:txBody>
          <a:bodyPr anchorCtr="0" anchor="t" bIns="91425" lIns="91425" spcFirstLastPara="1" rIns="91425" wrap="square" tIns="91425">
            <a:spAutoFit/>
          </a:bodyPr>
          <a:lstStyle/>
          <a:p>
            <a:pPr indent="0" lvl="0" marL="381000" marR="381000" rtl="0" algn="ctr">
              <a:lnSpc>
                <a:spcPct val="115000"/>
              </a:lnSpc>
              <a:spcBef>
                <a:spcPts val="1200"/>
              </a:spcBef>
              <a:spcAft>
                <a:spcPts val="1200"/>
              </a:spcAft>
              <a:buNone/>
            </a:pPr>
            <a:r>
              <a:rPr lang="en">
                <a:solidFill>
                  <a:srgbClr val="469CD4"/>
                </a:solidFill>
                <a:latin typeface="Open Sans"/>
                <a:ea typeface="Open Sans"/>
                <a:cs typeface="Open Sans"/>
                <a:sym typeface="Open Sans"/>
              </a:rPr>
              <a:t>WiFi devices communicate by transmitting radio waves and each generation of WiFi (Non-HT, HT, VHT, HT-GF) does it differently, leaving a unique physical fingerprint in the signal.</a:t>
            </a:r>
            <a:endParaRPr>
              <a:solidFill>
                <a:srgbClr val="469CD4"/>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5"/>
          <p:cNvPicPr preferRelativeResize="0"/>
          <p:nvPr/>
        </p:nvPicPr>
        <p:blipFill rotWithShape="1">
          <a:blip r:embed="rId3">
            <a:alphaModFix/>
          </a:blip>
          <a:srcRect b="0" l="0" r="49744" t="0"/>
          <a:stretch/>
        </p:blipFill>
        <p:spPr>
          <a:xfrm>
            <a:off x="16157" y="2231993"/>
            <a:ext cx="2296602" cy="928250"/>
          </a:xfrm>
          <a:prstGeom prst="rect">
            <a:avLst/>
          </a:prstGeom>
          <a:noFill/>
          <a:ln>
            <a:noFill/>
          </a:ln>
        </p:spPr>
      </p:pic>
      <p:pic>
        <p:nvPicPr>
          <p:cNvPr id="87" name="Google Shape;87;p15"/>
          <p:cNvPicPr preferRelativeResize="0"/>
          <p:nvPr/>
        </p:nvPicPr>
        <p:blipFill rotWithShape="1">
          <a:blip r:embed="rId4">
            <a:alphaModFix/>
          </a:blip>
          <a:srcRect b="0" l="3110" r="0" t="0"/>
          <a:stretch/>
        </p:blipFill>
        <p:spPr>
          <a:xfrm>
            <a:off x="2352862" y="2217690"/>
            <a:ext cx="2225151" cy="928150"/>
          </a:xfrm>
          <a:prstGeom prst="rect">
            <a:avLst/>
          </a:prstGeom>
          <a:noFill/>
          <a:ln>
            <a:noFill/>
          </a:ln>
        </p:spPr>
      </p:pic>
      <p:pic>
        <p:nvPicPr>
          <p:cNvPr id="88" name="Google Shape;88;p15"/>
          <p:cNvPicPr preferRelativeResize="0"/>
          <p:nvPr/>
        </p:nvPicPr>
        <p:blipFill rotWithShape="1">
          <a:blip r:embed="rId5">
            <a:alphaModFix/>
          </a:blip>
          <a:srcRect b="0" l="3120" r="0" t="0"/>
          <a:stretch/>
        </p:blipFill>
        <p:spPr>
          <a:xfrm>
            <a:off x="4649937" y="2215643"/>
            <a:ext cx="2225151" cy="928250"/>
          </a:xfrm>
          <a:prstGeom prst="rect">
            <a:avLst/>
          </a:prstGeom>
          <a:noFill/>
          <a:ln>
            <a:noFill/>
          </a:ln>
        </p:spPr>
      </p:pic>
      <p:pic>
        <p:nvPicPr>
          <p:cNvPr id="89" name="Google Shape;89;p15"/>
          <p:cNvPicPr preferRelativeResize="0"/>
          <p:nvPr/>
        </p:nvPicPr>
        <p:blipFill rotWithShape="1">
          <a:blip r:embed="rId6">
            <a:alphaModFix/>
          </a:blip>
          <a:srcRect b="0" l="3110" r="0" t="0"/>
          <a:stretch/>
        </p:blipFill>
        <p:spPr>
          <a:xfrm>
            <a:off x="6902691" y="2209618"/>
            <a:ext cx="2225151" cy="928150"/>
          </a:xfrm>
          <a:prstGeom prst="rect">
            <a:avLst/>
          </a:prstGeom>
          <a:noFill/>
          <a:ln>
            <a:noFill/>
          </a:ln>
        </p:spPr>
      </p:pic>
      <p:sp>
        <p:nvSpPr>
          <p:cNvPr id="90" name="Google Shape;90;p15"/>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5"/>
          <p:cNvSpPr txBox="1"/>
          <p:nvPr/>
        </p:nvSpPr>
        <p:spPr>
          <a:xfrm>
            <a:off x="224125" y="188250"/>
            <a:ext cx="8855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How are Networks communicated?</a:t>
            </a:r>
            <a:endParaRPr b="1" sz="3300">
              <a:solidFill>
                <a:schemeClr val="lt1"/>
              </a:solidFill>
              <a:latin typeface="Open Sans"/>
              <a:ea typeface="Open Sans"/>
              <a:cs typeface="Open Sans"/>
              <a:sym typeface="Open Sans"/>
            </a:endParaRPr>
          </a:p>
        </p:txBody>
      </p:sp>
      <p:sp>
        <p:nvSpPr>
          <p:cNvPr id="92" name="Google Shape;92;p15"/>
          <p:cNvSpPr txBox="1"/>
          <p:nvPr/>
        </p:nvSpPr>
        <p:spPr>
          <a:xfrm>
            <a:off x="224125" y="3236625"/>
            <a:ext cx="2088600" cy="10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69CD4"/>
                </a:solidFill>
                <a:latin typeface="Open Sans"/>
                <a:ea typeface="Open Sans"/>
                <a:cs typeface="Open Sans"/>
                <a:sym typeface="Open Sans"/>
              </a:rPr>
              <a:t>Non-HT</a:t>
            </a:r>
            <a:endParaRPr b="1" sz="1800">
              <a:solidFill>
                <a:srgbClr val="469CD4"/>
              </a:solidFill>
              <a:latin typeface="Open Sans"/>
              <a:ea typeface="Open Sans"/>
              <a:cs typeface="Open Sans"/>
              <a:sym typeface="Open Sans"/>
            </a:endParaRPr>
          </a:p>
          <a:p>
            <a:pPr indent="0" lvl="0" marL="0" rtl="0" algn="ctr">
              <a:spcBef>
                <a:spcPts val="0"/>
              </a:spcBef>
              <a:spcAft>
                <a:spcPts val="0"/>
              </a:spcAft>
              <a:buNone/>
            </a:pPr>
            <a:r>
              <a:rPr lang="en">
                <a:solidFill>
                  <a:srgbClr val="469CD4"/>
                </a:solidFill>
                <a:latin typeface="Open Sans"/>
                <a:ea typeface="Open Sans"/>
                <a:cs typeface="Open Sans"/>
                <a:sym typeface="Open Sans"/>
              </a:rPr>
              <a:t>Oldest, simplest signal</a:t>
            </a:r>
            <a:endParaRPr>
              <a:solidFill>
                <a:srgbClr val="469CD4"/>
              </a:solidFill>
              <a:latin typeface="Open Sans"/>
              <a:ea typeface="Open Sans"/>
              <a:cs typeface="Open Sans"/>
              <a:sym typeface="Open Sans"/>
            </a:endParaRPr>
          </a:p>
        </p:txBody>
      </p:sp>
      <p:sp>
        <p:nvSpPr>
          <p:cNvPr id="93" name="Google Shape;93;p15"/>
          <p:cNvSpPr txBox="1"/>
          <p:nvPr/>
        </p:nvSpPr>
        <p:spPr>
          <a:xfrm>
            <a:off x="2483375" y="3236625"/>
            <a:ext cx="2088600" cy="10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69CD4"/>
                </a:solidFill>
                <a:latin typeface="Open Sans"/>
                <a:ea typeface="Open Sans"/>
                <a:cs typeface="Open Sans"/>
                <a:sym typeface="Open Sans"/>
              </a:rPr>
              <a:t>HT</a:t>
            </a:r>
            <a:endParaRPr b="1" sz="1800">
              <a:solidFill>
                <a:srgbClr val="469CD4"/>
              </a:solidFill>
              <a:latin typeface="Open Sans"/>
              <a:ea typeface="Open Sans"/>
              <a:cs typeface="Open Sans"/>
              <a:sym typeface="Open Sans"/>
            </a:endParaRPr>
          </a:p>
          <a:p>
            <a:pPr indent="0" lvl="0" marL="0" rtl="0" algn="ctr">
              <a:spcBef>
                <a:spcPts val="0"/>
              </a:spcBef>
              <a:spcAft>
                <a:spcPts val="0"/>
              </a:spcAft>
              <a:buNone/>
            </a:pPr>
            <a:r>
              <a:rPr lang="en">
                <a:solidFill>
                  <a:srgbClr val="469CD4"/>
                </a:solidFill>
                <a:latin typeface="Open Sans"/>
                <a:ea typeface="Open Sans"/>
                <a:cs typeface="Open Sans"/>
                <a:sym typeface="Open Sans"/>
              </a:rPr>
              <a:t>Added multiple antennas</a:t>
            </a:r>
            <a:endParaRPr>
              <a:solidFill>
                <a:srgbClr val="469CD4"/>
              </a:solidFill>
              <a:latin typeface="Open Sans"/>
              <a:ea typeface="Open Sans"/>
              <a:cs typeface="Open Sans"/>
              <a:sym typeface="Open Sans"/>
            </a:endParaRPr>
          </a:p>
        </p:txBody>
      </p:sp>
      <p:sp>
        <p:nvSpPr>
          <p:cNvPr id="94" name="Google Shape;94;p15"/>
          <p:cNvSpPr txBox="1"/>
          <p:nvPr/>
        </p:nvSpPr>
        <p:spPr>
          <a:xfrm>
            <a:off x="4786500" y="3236625"/>
            <a:ext cx="2088600" cy="10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69CD4"/>
                </a:solidFill>
                <a:latin typeface="Open Sans"/>
                <a:ea typeface="Open Sans"/>
                <a:cs typeface="Open Sans"/>
                <a:sym typeface="Open Sans"/>
              </a:rPr>
              <a:t>VHT</a:t>
            </a:r>
            <a:endParaRPr b="1" sz="1800">
              <a:solidFill>
                <a:srgbClr val="469CD4"/>
              </a:solidFill>
              <a:latin typeface="Open Sans"/>
              <a:ea typeface="Open Sans"/>
              <a:cs typeface="Open Sans"/>
              <a:sym typeface="Open Sans"/>
            </a:endParaRPr>
          </a:p>
          <a:p>
            <a:pPr indent="0" lvl="0" marL="0" rtl="0" algn="ctr">
              <a:spcBef>
                <a:spcPts val="0"/>
              </a:spcBef>
              <a:spcAft>
                <a:spcPts val="0"/>
              </a:spcAft>
              <a:buNone/>
            </a:pPr>
            <a:r>
              <a:rPr lang="en">
                <a:solidFill>
                  <a:srgbClr val="469CD4"/>
                </a:solidFill>
                <a:latin typeface="Open Sans"/>
                <a:ea typeface="Open Sans"/>
                <a:cs typeface="Open Sans"/>
                <a:sym typeface="Open Sans"/>
              </a:rPr>
              <a:t>Faster, denser, wider signal</a:t>
            </a:r>
            <a:endParaRPr>
              <a:solidFill>
                <a:srgbClr val="469CD4"/>
              </a:solidFill>
              <a:latin typeface="Open Sans"/>
              <a:ea typeface="Open Sans"/>
              <a:cs typeface="Open Sans"/>
              <a:sym typeface="Open Sans"/>
            </a:endParaRPr>
          </a:p>
        </p:txBody>
      </p:sp>
      <p:sp>
        <p:nvSpPr>
          <p:cNvPr id="95" name="Google Shape;95;p15"/>
          <p:cNvSpPr txBox="1"/>
          <p:nvPr/>
        </p:nvSpPr>
        <p:spPr>
          <a:xfrm>
            <a:off x="7025775" y="3236625"/>
            <a:ext cx="2053500" cy="10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69CD4"/>
                </a:solidFill>
                <a:latin typeface="Open Sans"/>
                <a:ea typeface="Open Sans"/>
                <a:cs typeface="Open Sans"/>
                <a:sym typeface="Open Sans"/>
              </a:rPr>
              <a:t>HTGF</a:t>
            </a:r>
            <a:endParaRPr b="1" sz="1800">
              <a:solidFill>
                <a:srgbClr val="469CD4"/>
              </a:solidFill>
              <a:latin typeface="Open Sans"/>
              <a:ea typeface="Open Sans"/>
              <a:cs typeface="Open Sans"/>
              <a:sym typeface="Open Sans"/>
            </a:endParaRPr>
          </a:p>
          <a:p>
            <a:pPr indent="0" lvl="0" marL="0" rtl="0" algn="ctr">
              <a:spcBef>
                <a:spcPts val="0"/>
              </a:spcBef>
              <a:spcAft>
                <a:spcPts val="0"/>
              </a:spcAft>
              <a:buNone/>
            </a:pPr>
            <a:r>
              <a:rPr lang="en">
                <a:solidFill>
                  <a:srgbClr val="469CD4"/>
                </a:solidFill>
                <a:latin typeface="Open Sans"/>
                <a:ea typeface="Open Sans"/>
                <a:cs typeface="Open Sans"/>
                <a:sym typeface="Open Sans"/>
              </a:rPr>
              <a:t>HT with no legacy baggage</a:t>
            </a:r>
            <a:endParaRPr>
              <a:solidFill>
                <a:srgbClr val="469CD4"/>
              </a:solidFill>
              <a:latin typeface="Open Sans"/>
              <a:ea typeface="Open Sans"/>
              <a:cs typeface="Open Sans"/>
              <a:sym typeface="Open Sans"/>
            </a:endParaRPr>
          </a:p>
        </p:txBody>
      </p:sp>
      <p:sp>
        <p:nvSpPr>
          <p:cNvPr id="96" name="Google Shape;96;p15"/>
          <p:cNvSpPr txBox="1"/>
          <p:nvPr/>
        </p:nvSpPr>
        <p:spPr>
          <a:xfrm>
            <a:off x="468150" y="1433779"/>
            <a:ext cx="8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69CD4"/>
                </a:solidFill>
                <a:latin typeface="Open Sans"/>
                <a:ea typeface="Open Sans"/>
                <a:cs typeface="Open Sans"/>
                <a:sym typeface="Open Sans"/>
              </a:rPr>
              <a:t>WiFi has four protocol generations: each one transmits radio waves differently, leaving a physically distinct fingerprint in the signal.</a:t>
            </a:r>
            <a:endParaRPr>
              <a:solidFill>
                <a:srgbClr val="469CD4"/>
              </a:solidFill>
              <a:latin typeface="Open Sans"/>
              <a:ea typeface="Open Sans"/>
              <a:cs typeface="Open Sans"/>
              <a:sym typeface="Open Sans"/>
            </a:endParaRPr>
          </a:p>
        </p:txBody>
      </p:sp>
      <p:sp>
        <p:nvSpPr>
          <p:cNvPr id="97" name="Google Shape;97;p15"/>
          <p:cNvSpPr txBox="1"/>
          <p:nvPr/>
        </p:nvSpPr>
        <p:spPr>
          <a:xfrm>
            <a:off x="926550" y="4343500"/>
            <a:ext cx="729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69CD4"/>
                </a:solidFill>
                <a:latin typeface="Open Sans"/>
                <a:ea typeface="Open Sans"/>
                <a:cs typeface="Open Sans"/>
                <a:sym typeface="Open Sans"/>
              </a:rPr>
              <a:t>Every WiFi transmission, regardless of which protocol, gets recorded as IQ data.</a:t>
            </a:r>
            <a:endParaRPr>
              <a:solidFill>
                <a:srgbClr val="469CD4"/>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 name="Google Shape;103;p16"/>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How</a:t>
            </a:r>
            <a:r>
              <a:rPr b="1" lang="en" sz="3300">
                <a:solidFill>
                  <a:schemeClr val="lt1"/>
                </a:solidFill>
                <a:latin typeface="Open Sans"/>
                <a:ea typeface="Open Sans"/>
                <a:cs typeface="Open Sans"/>
                <a:sym typeface="Open Sans"/>
              </a:rPr>
              <a:t> is Network Data Captured? IQ Data</a:t>
            </a:r>
            <a:endParaRPr b="1" sz="3300">
              <a:solidFill>
                <a:schemeClr val="lt1"/>
              </a:solidFill>
              <a:latin typeface="Open Sans"/>
              <a:ea typeface="Open Sans"/>
              <a:cs typeface="Open Sans"/>
              <a:sym typeface="Open Sans"/>
            </a:endParaRPr>
          </a:p>
        </p:txBody>
      </p:sp>
      <p:sp>
        <p:nvSpPr>
          <p:cNvPr id="104" name="Google Shape;104;p16"/>
          <p:cNvSpPr txBox="1"/>
          <p:nvPr/>
        </p:nvSpPr>
        <p:spPr>
          <a:xfrm>
            <a:off x="55800" y="3545775"/>
            <a:ext cx="6590400" cy="6480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lang="en">
                <a:solidFill>
                  <a:srgbClr val="469CD4"/>
                </a:solidFill>
                <a:latin typeface="Open Sans"/>
                <a:ea typeface="Open Sans"/>
                <a:cs typeface="Open Sans"/>
                <a:sym typeface="Open Sans"/>
              </a:rPr>
              <a:t>Two numbers, captured millions of times per second: that's the entire raw signal.</a:t>
            </a:r>
            <a:endParaRPr>
              <a:solidFill>
                <a:srgbClr val="469CD4"/>
              </a:solidFill>
              <a:latin typeface="Open Sans"/>
              <a:ea typeface="Open Sans"/>
              <a:cs typeface="Open Sans"/>
              <a:sym typeface="Open Sans"/>
            </a:endParaRPr>
          </a:p>
        </p:txBody>
      </p:sp>
      <p:pic>
        <p:nvPicPr>
          <p:cNvPr id="105" name="Google Shape;105;p16"/>
          <p:cNvPicPr preferRelativeResize="0"/>
          <p:nvPr/>
        </p:nvPicPr>
        <p:blipFill>
          <a:blip r:embed="rId3">
            <a:alphaModFix/>
          </a:blip>
          <a:stretch>
            <a:fillRect/>
          </a:stretch>
        </p:blipFill>
        <p:spPr>
          <a:xfrm>
            <a:off x="3978100" y="1174375"/>
            <a:ext cx="5014700" cy="1470450"/>
          </a:xfrm>
          <a:prstGeom prst="rect">
            <a:avLst/>
          </a:prstGeom>
          <a:noFill/>
          <a:ln>
            <a:noFill/>
          </a:ln>
        </p:spPr>
      </p:pic>
      <p:pic>
        <p:nvPicPr>
          <p:cNvPr id="106" name="Google Shape;106;p16"/>
          <p:cNvPicPr preferRelativeResize="0"/>
          <p:nvPr/>
        </p:nvPicPr>
        <p:blipFill>
          <a:blip r:embed="rId4">
            <a:alphaModFix/>
          </a:blip>
          <a:stretch>
            <a:fillRect/>
          </a:stretch>
        </p:blipFill>
        <p:spPr>
          <a:xfrm>
            <a:off x="6646200" y="2750000"/>
            <a:ext cx="2346598" cy="2346625"/>
          </a:xfrm>
          <a:prstGeom prst="rect">
            <a:avLst/>
          </a:prstGeom>
          <a:noFill/>
          <a:ln>
            <a:noFill/>
          </a:ln>
        </p:spPr>
      </p:pic>
      <p:sp>
        <p:nvSpPr>
          <p:cNvPr id="107" name="Google Shape;107;p16"/>
          <p:cNvSpPr txBox="1"/>
          <p:nvPr/>
        </p:nvSpPr>
        <p:spPr>
          <a:xfrm>
            <a:off x="507450" y="4165760"/>
            <a:ext cx="568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469CD4"/>
                </a:solidFill>
                <a:latin typeface="Open Sans"/>
                <a:ea typeface="Open Sans"/>
                <a:cs typeface="Open Sans"/>
                <a:sym typeface="Open Sans"/>
              </a:rPr>
              <a:t>I (In-phase)</a:t>
            </a:r>
            <a:r>
              <a:rPr lang="en" sz="1100">
                <a:solidFill>
                  <a:srgbClr val="469CD4"/>
                </a:solidFill>
                <a:latin typeface="Open Sans"/>
                <a:ea typeface="Open Sans"/>
                <a:cs typeface="Open Sans"/>
                <a:sym typeface="Open Sans"/>
              </a:rPr>
              <a:t> — left/right position of the wave </a:t>
            </a:r>
            <a:endParaRPr sz="1100">
              <a:solidFill>
                <a:srgbClr val="469CD4"/>
              </a:solidFill>
              <a:latin typeface="Open Sans"/>
              <a:ea typeface="Open Sans"/>
              <a:cs typeface="Open Sans"/>
              <a:sym typeface="Open Sans"/>
            </a:endParaRPr>
          </a:p>
          <a:p>
            <a:pPr indent="0" lvl="0" marL="0" rtl="0" algn="l">
              <a:spcBef>
                <a:spcPts val="0"/>
              </a:spcBef>
              <a:spcAft>
                <a:spcPts val="0"/>
              </a:spcAft>
              <a:buNone/>
            </a:pPr>
            <a:r>
              <a:rPr b="1" lang="en" sz="1100">
                <a:solidFill>
                  <a:srgbClr val="469CD4"/>
                </a:solidFill>
                <a:latin typeface="Open Sans"/>
                <a:ea typeface="Open Sans"/>
                <a:cs typeface="Open Sans"/>
                <a:sym typeface="Open Sans"/>
              </a:rPr>
              <a:t>Q (Quadrature)</a:t>
            </a:r>
            <a:r>
              <a:rPr lang="en" sz="1100">
                <a:solidFill>
                  <a:srgbClr val="469CD4"/>
                </a:solidFill>
                <a:latin typeface="Open Sans"/>
                <a:ea typeface="Open Sans"/>
                <a:cs typeface="Open Sans"/>
                <a:sym typeface="Open Sans"/>
              </a:rPr>
              <a:t> — up/down position of the wave</a:t>
            </a:r>
            <a:endParaRPr>
              <a:solidFill>
                <a:srgbClr val="469CD4"/>
              </a:solidFill>
              <a:latin typeface="Open Sans"/>
              <a:ea typeface="Open Sans"/>
              <a:cs typeface="Open Sans"/>
              <a:sym typeface="Open Sans"/>
            </a:endParaRPr>
          </a:p>
        </p:txBody>
      </p:sp>
      <p:pic>
        <p:nvPicPr>
          <p:cNvPr id="108" name="Google Shape;108;p16"/>
          <p:cNvPicPr preferRelativeResize="0"/>
          <p:nvPr/>
        </p:nvPicPr>
        <p:blipFill>
          <a:blip r:embed="rId5">
            <a:alphaModFix/>
          </a:blip>
          <a:stretch>
            <a:fillRect/>
          </a:stretch>
        </p:blipFill>
        <p:spPr>
          <a:xfrm>
            <a:off x="329825" y="1121595"/>
            <a:ext cx="3373696" cy="1632025"/>
          </a:xfrm>
          <a:prstGeom prst="rect">
            <a:avLst/>
          </a:prstGeom>
          <a:noFill/>
          <a:ln>
            <a:noFill/>
          </a:ln>
        </p:spPr>
      </p:pic>
      <p:sp>
        <p:nvSpPr>
          <p:cNvPr id="109" name="Google Shape;109;p16"/>
          <p:cNvSpPr txBox="1"/>
          <p:nvPr/>
        </p:nvSpPr>
        <p:spPr>
          <a:xfrm>
            <a:off x="46462" y="2938250"/>
            <a:ext cx="6590400" cy="6480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lang="en">
                <a:solidFill>
                  <a:srgbClr val="469CD4"/>
                </a:solidFill>
                <a:latin typeface="Open Sans"/>
                <a:ea typeface="Open Sans"/>
                <a:cs typeface="Open Sans"/>
                <a:sym typeface="Open Sans"/>
              </a:rPr>
              <a:t>All radio signals are electromagnetic waves: every electromagnetic wave has two components oscillating at 90° to each other.</a:t>
            </a:r>
            <a:endParaRPr>
              <a:solidFill>
                <a:srgbClr val="469CD4"/>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5" name="Google Shape;115;p17"/>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The Problem</a:t>
            </a:r>
            <a:endParaRPr b="1" sz="3300">
              <a:solidFill>
                <a:schemeClr val="lt1"/>
              </a:solidFill>
              <a:latin typeface="Open Sans"/>
              <a:ea typeface="Open Sans"/>
              <a:cs typeface="Open Sans"/>
              <a:sym typeface="Open Sans"/>
            </a:endParaRPr>
          </a:p>
        </p:txBody>
      </p:sp>
      <p:pic>
        <p:nvPicPr>
          <p:cNvPr id="116" name="Google Shape;116;p17"/>
          <p:cNvPicPr preferRelativeResize="0"/>
          <p:nvPr/>
        </p:nvPicPr>
        <p:blipFill>
          <a:blip r:embed="rId3">
            <a:alphaModFix/>
          </a:blip>
          <a:stretch>
            <a:fillRect/>
          </a:stretch>
        </p:blipFill>
        <p:spPr>
          <a:xfrm>
            <a:off x="4223875" y="1174900"/>
            <a:ext cx="4741379" cy="3769501"/>
          </a:xfrm>
          <a:prstGeom prst="rect">
            <a:avLst/>
          </a:prstGeom>
          <a:noFill/>
          <a:ln>
            <a:noFill/>
          </a:ln>
        </p:spPr>
      </p:pic>
      <p:sp>
        <p:nvSpPr>
          <p:cNvPr id="117" name="Google Shape;117;p17"/>
          <p:cNvSpPr txBox="1"/>
          <p:nvPr/>
        </p:nvSpPr>
        <p:spPr>
          <a:xfrm>
            <a:off x="139700" y="1326025"/>
            <a:ext cx="3885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Real-world monitoring devices can't always capture signals at full quality.</a:t>
            </a:r>
            <a:endParaRPr>
              <a:solidFill>
                <a:srgbClr val="469CD4"/>
              </a:solidFill>
              <a:latin typeface="Open Sans"/>
              <a:ea typeface="Open Sans"/>
              <a:cs typeface="Open Sans"/>
              <a:sym typeface="Open Sans"/>
            </a:endParaRPr>
          </a:p>
          <a:p>
            <a:pPr indent="0" lvl="0" marL="0" rtl="0" algn="l">
              <a:spcBef>
                <a:spcPts val="0"/>
              </a:spcBef>
              <a:spcAft>
                <a:spcPts val="0"/>
              </a:spcAft>
              <a:buNone/>
            </a:pPr>
            <a:r>
              <a:t/>
            </a:r>
            <a:endParaRPr>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latin typeface="Open Sans"/>
                <a:ea typeface="Open Sans"/>
                <a:cs typeface="Open Sans"/>
                <a:sym typeface="Open Sans"/>
              </a:rPr>
              <a:t>We were given high resolution data and low resolution data through 4x downsampling.</a:t>
            </a:r>
            <a:endParaRPr>
              <a:solidFill>
                <a:srgbClr val="469CD4"/>
              </a:solidFill>
              <a:latin typeface="Open Sans"/>
              <a:ea typeface="Open Sans"/>
              <a:cs typeface="Open Sans"/>
              <a:sym typeface="Open Sans"/>
            </a:endParaRPr>
          </a:p>
        </p:txBody>
      </p:sp>
      <p:pic>
        <p:nvPicPr>
          <p:cNvPr id="118" name="Google Shape;118;p17"/>
          <p:cNvPicPr preferRelativeResize="0"/>
          <p:nvPr/>
        </p:nvPicPr>
        <p:blipFill rotWithShape="1">
          <a:blip r:embed="rId4">
            <a:alphaModFix/>
          </a:blip>
          <a:srcRect b="0" l="10973" r="14434" t="0"/>
          <a:stretch/>
        </p:blipFill>
        <p:spPr>
          <a:xfrm>
            <a:off x="0" y="2844950"/>
            <a:ext cx="1689423" cy="1509850"/>
          </a:xfrm>
          <a:prstGeom prst="rect">
            <a:avLst/>
          </a:prstGeom>
          <a:noFill/>
          <a:ln>
            <a:noFill/>
          </a:ln>
        </p:spPr>
      </p:pic>
      <p:pic>
        <p:nvPicPr>
          <p:cNvPr id="119" name="Google Shape;119;p17"/>
          <p:cNvPicPr preferRelativeResize="0"/>
          <p:nvPr/>
        </p:nvPicPr>
        <p:blipFill>
          <a:blip r:embed="rId5">
            <a:alphaModFix/>
          </a:blip>
          <a:stretch>
            <a:fillRect/>
          </a:stretch>
        </p:blipFill>
        <p:spPr>
          <a:xfrm>
            <a:off x="1759927" y="2925013"/>
            <a:ext cx="2264767" cy="1509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5" name="Google Shape;125;p18"/>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The Nyquist Limit </a:t>
            </a:r>
            <a:endParaRPr b="1" sz="3300">
              <a:solidFill>
                <a:schemeClr val="lt1"/>
              </a:solidFill>
              <a:latin typeface="Open Sans"/>
              <a:ea typeface="Open Sans"/>
              <a:cs typeface="Open Sans"/>
              <a:sym typeface="Open Sans"/>
            </a:endParaRPr>
          </a:p>
        </p:txBody>
      </p:sp>
      <p:sp>
        <p:nvSpPr>
          <p:cNvPr id="126" name="Google Shape;126;p18"/>
          <p:cNvSpPr txBox="1"/>
          <p:nvPr/>
        </p:nvSpPr>
        <p:spPr>
          <a:xfrm>
            <a:off x="139700" y="1326025"/>
            <a:ext cx="3885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To accurately capture a frequency, you must sample at least twice as fast as it.</a:t>
            </a:r>
            <a:endParaRPr b="1">
              <a:solidFill>
                <a:srgbClr val="469CD4"/>
              </a:solidFill>
              <a:latin typeface="Open Sans"/>
              <a:ea typeface="Open Sans"/>
              <a:cs typeface="Open Sans"/>
              <a:sym typeface="Open Sans"/>
            </a:endParaRPr>
          </a:p>
        </p:txBody>
      </p:sp>
      <p:sp>
        <p:nvSpPr>
          <p:cNvPr id="127" name="Google Shape;127;p18"/>
          <p:cNvSpPr txBox="1"/>
          <p:nvPr/>
        </p:nvSpPr>
        <p:spPr>
          <a:xfrm>
            <a:off x="197350" y="1872976"/>
            <a:ext cx="46167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69CD4"/>
                </a:solidFill>
                <a:latin typeface="Open Sans"/>
                <a:ea typeface="Open Sans"/>
                <a:cs typeface="Open Sans"/>
                <a:sym typeface="Open Sans"/>
              </a:rPr>
              <a:t>Imagine filming a spinning fan. Film too slowly and it looks frozen or spinning backwards, you didn't capture enough frames to represent the true motion. Radio signals work exactly the same way.</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rPr lang="en" sz="1200">
                <a:solidFill>
                  <a:srgbClr val="469CD4"/>
                </a:solidFill>
                <a:latin typeface="Open Sans"/>
                <a:ea typeface="Open Sans"/>
                <a:cs typeface="Open Sans"/>
                <a:sym typeface="Open Sans"/>
              </a:rPr>
              <a:t>This is the </a:t>
            </a:r>
            <a:r>
              <a:rPr b="1" lang="en" sz="1200">
                <a:solidFill>
                  <a:srgbClr val="469CD4"/>
                </a:solidFill>
                <a:latin typeface="Open Sans"/>
                <a:ea typeface="Open Sans"/>
                <a:cs typeface="Open Sans"/>
                <a:sym typeface="Open Sans"/>
              </a:rPr>
              <a:t>Nyquist-Shannon Sampling Theorem</a:t>
            </a:r>
            <a:endParaRPr b="1"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b="1" sz="1200">
              <a:solidFill>
                <a:srgbClr val="469CD4"/>
              </a:solidFill>
              <a:latin typeface="Open Sans"/>
              <a:ea typeface="Open Sans"/>
              <a:cs typeface="Open Sans"/>
              <a:sym typeface="Open Sans"/>
            </a:endParaRPr>
          </a:p>
          <a:p>
            <a:pPr indent="0" lvl="0" marL="0" rtl="0" algn="l">
              <a:spcBef>
                <a:spcPts val="0"/>
              </a:spcBef>
              <a:spcAft>
                <a:spcPts val="0"/>
              </a:spcAft>
              <a:buNone/>
            </a:pPr>
            <a:r>
              <a:rPr lang="en" sz="1200">
                <a:solidFill>
                  <a:srgbClr val="469CD4"/>
                </a:solidFill>
                <a:latin typeface="Open Sans"/>
                <a:ea typeface="Open Sans"/>
                <a:cs typeface="Open Sans"/>
                <a:sym typeface="Open Sans"/>
              </a:rPr>
              <a:t>Proof from our Data:</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b="1" sz="12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200">
              <a:solidFill>
                <a:srgbClr val="469CD4"/>
              </a:solidFill>
              <a:latin typeface="Open Sans"/>
              <a:ea typeface="Open Sans"/>
              <a:cs typeface="Open Sans"/>
              <a:sym typeface="Open Sans"/>
            </a:endParaRPr>
          </a:p>
        </p:txBody>
      </p:sp>
      <p:pic>
        <p:nvPicPr>
          <p:cNvPr id="128" name="Google Shape;128;p18"/>
          <p:cNvPicPr preferRelativeResize="0"/>
          <p:nvPr/>
        </p:nvPicPr>
        <p:blipFill>
          <a:blip r:embed="rId3">
            <a:alphaModFix/>
          </a:blip>
          <a:stretch>
            <a:fillRect/>
          </a:stretch>
        </p:blipFill>
        <p:spPr>
          <a:xfrm>
            <a:off x="4530325" y="1221600"/>
            <a:ext cx="4461274" cy="2592725"/>
          </a:xfrm>
          <a:prstGeom prst="rect">
            <a:avLst/>
          </a:prstGeom>
          <a:noFill/>
          <a:ln>
            <a:noFill/>
          </a:ln>
        </p:spPr>
      </p:pic>
      <p:sp>
        <p:nvSpPr>
          <p:cNvPr id="129" name="Google Shape;129;p18"/>
          <p:cNvSpPr txBox="1"/>
          <p:nvPr/>
        </p:nvSpPr>
        <p:spPr>
          <a:xfrm>
            <a:off x="4448175" y="3814325"/>
            <a:ext cx="4616700" cy="1119900"/>
          </a:xfrm>
          <a:prstGeom prst="rect">
            <a:avLst/>
          </a:prstGeom>
          <a:noFill/>
          <a:ln>
            <a:noFill/>
          </a:ln>
        </p:spPr>
        <p:txBody>
          <a:bodyPr anchorCtr="0" anchor="t" bIns="91425" lIns="91425" spcFirstLastPara="1" rIns="91425" wrap="square" tIns="91425">
            <a:spAutoFit/>
          </a:bodyPr>
          <a:lstStyle/>
          <a:p>
            <a:pPr indent="-285750" lvl="0" marL="457200" marR="381000" rtl="0" algn="l">
              <a:lnSpc>
                <a:spcPct val="115000"/>
              </a:lnSpc>
              <a:spcBef>
                <a:spcPts val="1200"/>
              </a:spcBef>
              <a:spcAft>
                <a:spcPts val="0"/>
              </a:spcAft>
              <a:buClr>
                <a:srgbClr val="469CD4"/>
              </a:buClr>
              <a:buSzPts val="900"/>
              <a:buFont typeface="Open Sans"/>
              <a:buChar char="●"/>
            </a:pPr>
            <a:r>
              <a:rPr b="1" lang="en" sz="900">
                <a:solidFill>
                  <a:srgbClr val="469CD4"/>
                </a:solidFill>
                <a:latin typeface="Open Sans"/>
                <a:ea typeface="Open Sans"/>
                <a:cs typeface="Open Sans"/>
                <a:sym typeface="Open Sans"/>
              </a:rPr>
              <a:t>The complex signal</a:t>
            </a:r>
            <a:r>
              <a:rPr lang="en" sz="900">
                <a:solidFill>
                  <a:srgbClr val="469CD4"/>
                </a:solidFill>
                <a:latin typeface="Open Sans"/>
                <a:ea typeface="Open Sans"/>
                <a:cs typeface="Open Sans"/>
                <a:sym typeface="Open Sans"/>
              </a:rPr>
              <a:t> — two frequencies mixed together, fully captured at 5 MHz</a:t>
            </a:r>
            <a:endParaRPr sz="900">
              <a:solidFill>
                <a:srgbClr val="469CD4"/>
              </a:solidFill>
              <a:latin typeface="Open Sans"/>
              <a:ea typeface="Open Sans"/>
              <a:cs typeface="Open Sans"/>
              <a:sym typeface="Open Sans"/>
            </a:endParaRPr>
          </a:p>
          <a:p>
            <a:pPr indent="-285750" lvl="0" marL="457200" marR="381000" rtl="0" algn="l">
              <a:lnSpc>
                <a:spcPct val="115000"/>
              </a:lnSpc>
              <a:spcBef>
                <a:spcPts val="0"/>
              </a:spcBef>
              <a:spcAft>
                <a:spcPts val="0"/>
              </a:spcAft>
              <a:buClr>
                <a:srgbClr val="469CD4"/>
              </a:buClr>
              <a:buSzPts val="900"/>
              <a:buFont typeface="Open Sans"/>
              <a:buChar char="●"/>
            </a:pPr>
            <a:r>
              <a:rPr b="1" lang="en" sz="900">
                <a:solidFill>
                  <a:srgbClr val="469CD4"/>
                </a:solidFill>
                <a:latin typeface="Open Sans"/>
                <a:ea typeface="Open Sans"/>
                <a:cs typeface="Open Sans"/>
                <a:sym typeface="Open Sans"/>
              </a:rPr>
              <a:t>The ghost</a:t>
            </a:r>
            <a:r>
              <a:rPr lang="en" sz="900">
                <a:solidFill>
                  <a:srgbClr val="469CD4"/>
                </a:solidFill>
                <a:latin typeface="Open Sans"/>
                <a:ea typeface="Open Sans"/>
                <a:cs typeface="Open Sans"/>
                <a:sym typeface="Open Sans"/>
              </a:rPr>
              <a:t> — what the true signal actually looked like, invisible to low-res hardware</a:t>
            </a:r>
            <a:endParaRPr sz="900">
              <a:solidFill>
                <a:srgbClr val="469CD4"/>
              </a:solidFill>
              <a:latin typeface="Open Sans"/>
              <a:ea typeface="Open Sans"/>
              <a:cs typeface="Open Sans"/>
              <a:sym typeface="Open Sans"/>
            </a:endParaRPr>
          </a:p>
          <a:p>
            <a:pPr indent="-285750" lvl="0" marL="457200" marR="381000" rtl="0" algn="l">
              <a:lnSpc>
                <a:spcPct val="115000"/>
              </a:lnSpc>
              <a:spcBef>
                <a:spcPts val="0"/>
              </a:spcBef>
              <a:spcAft>
                <a:spcPts val="0"/>
              </a:spcAft>
              <a:buClr>
                <a:srgbClr val="469CD4"/>
              </a:buClr>
              <a:buSzPts val="900"/>
              <a:buFont typeface="Open Sans"/>
              <a:buChar char="●"/>
            </a:pPr>
            <a:r>
              <a:rPr b="1" lang="en" sz="900">
                <a:solidFill>
                  <a:srgbClr val="469CD4"/>
                </a:solidFill>
                <a:latin typeface="Open Sans"/>
                <a:ea typeface="Open Sans"/>
                <a:cs typeface="Open Sans"/>
                <a:sym typeface="Open Sans"/>
              </a:rPr>
              <a:t>What gets recorded</a:t>
            </a:r>
            <a:r>
              <a:rPr lang="en" sz="900">
                <a:solidFill>
                  <a:srgbClr val="469CD4"/>
                </a:solidFill>
                <a:latin typeface="Open Sans"/>
                <a:ea typeface="Open Sans"/>
                <a:cs typeface="Open Sans"/>
                <a:sym typeface="Open Sans"/>
              </a:rPr>
              <a:t> — only the 0.3 MHz component survives. The 0.8 MHz component is gone before any model sees the data.</a:t>
            </a:r>
            <a:endParaRPr sz="900">
              <a:solidFill>
                <a:srgbClr val="469CD4"/>
              </a:solidFill>
              <a:latin typeface="Open Sans"/>
              <a:ea typeface="Open Sans"/>
              <a:cs typeface="Open Sans"/>
              <a:sym typeface="Open Sans"/>
            </a:endParaRPr>
          </a:p>
        </p:txBody>
      </p:sp>
      <p:pic>
        <p:nvPicPr>
          <p:cNvPr id="130" name="Google Shape;130;p18"/>
          <p:cNvPicPr preferRelativeResize="0"/>
          <p:nvPr/>
        </p:nvPicPr>
        <p:blipFill>
          <a:blip r:embed="rId4">
            <a:alphaModFix/>
          </a:blip>
          <a:stretch>
            <a:fillRect/>
          </a:stretch>
        </p:blipFill>
        <p:spPr>
          <a:xfrm>
            <a:off x="1885600" y="3173100"/>
            <a:ext cx="2329425" cy="421525"/>
          </a:xfrm>
          <a:prstGeom prst="rect">
            <a:avLst/>
          </a:prstGeom>
          <a:noFill/>
          <a:ln>
            <a:noFill/>
          </a:ln>
        </p:spPr>
      </p:pic>
      <p:pic>
        <p:nvPicPr>
          <p:cNvPr id="131" name="Google Shape;131;p18"/>
          <p:cNvPicPr preferRelativeResize="0"/>
          <p:nvPr/>
        </p:nvPicPr>
        <p:blipFill>
          <a:blip r:embed="rId5">
            <a:alphaModFix/>
          </a:blip>
          <a:stretch>
            <a:fillRect/>
          </a:stretch>
        </p:blipFill>
        <p:spPr>
          <a:xfrm>
            <a:off x="1885609" y="3594625"/>
            <a:ext cx="2239148" cy="456525"/>
          </a:xfrm>
          <a:prstGeom prst="rect">
            <a:avLst/>
          </a:prstGeom>
          <a:noFill/>
          <a:ln>
            <a:noFill/>
          </a:ln>
        </p:spPr>
      </p:pic>
      <p:pic>
        <p:nvPicPr>
          <p:cNvPr id="132" name="Google Shape;132;p18"/>
          <p:cNvPicPr preferRelativeResize="0"/>
          <p:nvPr/>
        </p:nvPicPr>
        <p:blipFill>
          <a:blip r:embed="rId6">
            <a:alphaModFix/>
          </a:blip>
          <a:stretch>
            <a:fillRect/>
          </a:stretch>
        </p:blipFill>
        <p:spPr>
          <a:xfrm>
            <a:off x="235350" y="4224425"/>
            <a:ext cx="4212824" cy="224875"/>
          </a:xfrm>
          <a:prstGeom prst="rect">
            <a:avLst/>
          </a:prstGeom>
          <a:noFill/>
          <a:ln>
            <a:noFill/>
          </a:ln>
        </p:spPr>
      </p:pic>
      <p:pic>
        <p:nvPicPr>
          <p:cNvPr id="133" name="Google Shape;133;p18"/>
          <p:cNvPicPr preferRelativeResize="0"/>
          <p:nvPr/>
        </p:nvPicPr>
        <p:blipFill>
          <a:blip r:embed="rId7">
            <a:alphaModFix/>
          </a:blip>
          <a:stretch>
            <a:fillRect/>
          </a:stretch>
        </p:blipFill>
        <p:spPr>
          <a:xfrm>
            <a:off x="395375" y="4604523"/>
            <a:ext cx="2039545" cy="237883"/>
          </a:xfrm>
          <a:prstGeom prst="rect">
            <a:avLst/>
          </a:prstGeom>
          <a:noFill/>
          <a:ln>
            <a:noFill/>
          </a:ln>
        </p:spPr>
      </p:pic>
      <p:pic>
        <p:nvPicPr>
          <p:cNvPr id="134" name="Google Shape;134;p18"/>
          <p:cNvPicPr preferRelativeResize="0"/>
          <p:nvPr/>
        </p:nvPicPr>
        <p:blipFill>
          <a:blip r:embed="rId8">
            <a:alphaModFix/>
          </a:blip>
          <a:stretch>
            <a:fillRect/>
          </a:stretch>
        </p:blipFill>
        <p:spPr>
          <a:xfrm>
            <a:off x="2787512" y="4512700"/>
            <a:ext cx="1075798" cy="421523"/>
          </a:xfrm>
          <a:prstGeom prst="rect">
            <a:avLst/>
          </a:prstGeom>
          <a:noFill/>
          <a:ln>
            <a:noFill/>
          </a:ln>
        </p:spPr>
      </p:pic>
      <p:pic>
        <p:nvPicPr>
          <p:cNvPr id="135" name="Google Shape;135;p18"/>
          <p:cNvPicPr preferRelativeResize="0"/>
          <p:nvPr/>
        </p:nvPicPr>
        <p:blipFill>
          <a:blip r:embed="rId9">
            <a:alphaModFix/>
          </a:blip>
          <a:stretch>
            <a:fillRect/>
          </a:stretch>
        </p:blipFill>
        <p:spPr>
          <a:xfrm>
            <a:off x="2528320" y="4622995"/>
            <a:ext cx="173537" cy="2009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1" name="Google Shape;141;p19"/>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Data</a:t>
            </a:r>
            <a:endParaRPr b="1" sz="3300">
              <a:solidFill>
                <a:schemeClr val="lt1"/>
              </a:solidFill>
              <a:latin typeface="Open Sans"/>
              <a:ea typeface="Open Sans"/>
              <a:cs typeface="Open Sans"/>
              <a:sym typeface="Open Sans"/>
            </a:endParaRPr>
          </a:p>
        </p:txBody>
      </p:sp>
      <p:pic>
        <p:nvPicPr>
          <p:cNvPr id="142" name="Google Shape;142;p19"/>
          <p:cNvPicPr preferRelativeResize="0"/>
          <p:nvPr/>
        </p:nvPicPr>
        <p:blipFill>
          <a:blip r:embed="rId3">
            <a:alphaModFix/>
          </a:blip>
          <a:stretch>
            <a:fillRect/>
          </a:stretch>
        </p:blipFill>
        <p:spPr>
          <a:xfrm>
            <a:off x="139700" y="1144625"/>
            <a:ext cx="1906550" cy="1817175"/>
          </a:xfrm>
          <a:prstGeom prst="rect">
            <a:avLst/>
          </a:prstGeom>
          <a:noFill/>
          <a:ln>
            <a:noFill/>
          </a:ln>
        </p:spPr>
      </p:pic>
      <p:sp>
        <p:nvSpPr>
          <p:cNvPr id="143" name="Google Shape;143;p19"/>
          <p:cNvSpPr txBox="1"/>
          <p:nvPr/>
        </p:nvSpPr>
        <p:spPr>
          <a:xfrm>
            <a:off x="2170225" y="1231225"/>
            <a:ext cx="261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Zhihui Gao - Electrical and Computer Engineering</a:t>
            </a:r>
            <a:endParaRPr b="1">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rPr>
              <a:t>Duke University</a:t>
            </a:r>
            <a:endParaRPr>
              <a:solidFill>
                <a:srgbClr val="469CD4"/>
              </a:solidFill>
            </a:endParaRPr>
          </a:p>
        </p:txBody>
      </p:sp>
      <p:sp>
        <p:nvSpPr>
          <p:cNvPr id="144" name="Google Shape;144;p19"/>
          <p:cNvSpPr txBox="1"/>
          <p:nvPr/>
        </p:nvSpPr>
        <p:spPr>
          <a:xfrm>
            <a:off x="92075" y="3037225"/>
            <a:ext cx="4528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Gao et al. captured raw WiFi signals using PlutoSDR receivers in a real indoor environment and stored them as binary .bin files with paired .mat label files in MATLAB format. Each file contained raw IQ samples: just the two streams of numbers, I and Q, recorded directly from the air.</a:t>
            </a:r>
            <a:endParaRPr>
              <a:solidFill>
                <a:srgbClr val="469CD4"/>
              </a:solidFill>
              <a:latin typeface="Open Sans"/>
              <a:ea typeface="Open Sans"/>
              <a:cs typeface="Open Sans"/>
              <a:sym typeface="Open Sans"/>
            </a:endParaRPr>
          </a:p>
          <a:p>
            <a:pPr indent="0" lvl="0" marL="0" rtl="0" algn="l">
              <a:spcBef>
                <a:spcPts val="0"/>
              </a:spcBef>
              <a:spcAft>
                <a:spcPts val="0"/>
              </a:spcAft>
              <a:buNone/>
            </a:pPr>
            <a:r>
              <a:t/>
            </a:r>
            <a:endParaRPr>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latin typeface="Open Sans"/>
                <a:ea typeface="Open Sans"/>
                <a:cs typeface="Open Sans"/>
                <a:sym typeface="Open Sans"/>
              </a:rPr>
              <a:t>They answered: C</a:t>
            </a:r>
            <a:r>
              <a:rPr lang="en">
                <a:solidFill>
                  <a:srgbClr val="469CD4"/>
                </a:solidFill>
                <a:latin typeface="Open Sans"/>
                <a:ea typeface="Open Sans"/>
                <a:cs typeface="Open Sans"/>
                <a:sym typeface="Open Sans"/>
              </a:rPr>
              <a:t>an a cheap low-power radio still extract useful WiFi information?</a:t>
            </a:r>
            <a:endParaRPr>
              <a:solidFill>
                <a:srgbClr val="469CD4"/>
              </a:solidFill>
              <a:latin typeface="Open Sans"/>
              <a:ea typeface="Open Sans"/>
              <a:cs typeface="Open Sans"/>
              <a:sym typeface="Open Sans"/>
            </a:endParaRPr>
          </a:p>
        </p:txBody>
      </p:sp>
      <p:pic>
        <p:nvPicPr>
          <p:cNvPr id="145" name="Google Shape;145;p19"/>
          <p:cNvPicPr preferRelativeResize="0"/>
          <p:nvPr/>
        </p:nvPicPr>
        <p:blipFill>
          <a:blip r:embed="rId4">
            <a:alphaModFix/>
          </a:blip>
          <a:stretch>
            <a:fillRect/>
          </a:stretch>
        </p:blipFill>
        <p:spPr>
          <a:xfrm>
            <a:off x="4785925" y="1296901"/>
            <a:ext cx="4257000" cy="3526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51" name="Google Shape;151;p20"/>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Our Task</a:t>
            </a:r>
            <a:endParaRPr b="1" sz="3300">
              <a:solidFill>
                <a:schemeClr val="lt1"/>
              </a:solidFill>
              <a:latin typeface="Open Sans"/>
              <a:ea typeface="Open Sans"/>
              <a:cs typeface="Open Sans"/>
              <a:sym typeface="Open Sans"/>
            </a:endParaRPr>
          </a:p>
        </p:txBody>
      </p:sp>
      <p:pic>
        <p:nvPicPr>
          <p:cNvPr id="152" name="Google Shape;152;p20"/>
          <p:cNvPicPr preferRelativeResize="0"/>
          <p:nvPr/>
        </p:nvPicPr>
        <p:blipFill>
          <a:blip r:embed="rId3">
            <a:alphaModFix/>
          </a:blip>
          <a:stretch>
            <a:fillRect/>
          </a:stretch>
        </p:blipFill>
        <p:spPr>
          <a:xfrm>
            <a:off x="795062" y="1181175"/>
            <a:ext cx="7833275" cy="3900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58" name="Google Shape;158;p21"/>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Our Task</a:t>
            </a:r>
            <a:endParaRPr b="1" sz="3300">
              <a:solidFill>
                <a:schemeClr val="lt1"/>
              </a:solidFill>
              <a:latin typeface="Open Sans"/>
              <a:ea typeface="Open Sans"/>
              <a:cs typeface="Open Sans"/>
              <a:sym typeface="Open Sans"/>
            </a:endParaRPr>
          </a:p>
        </p:txBody>
      </p:sp>
      <p:sp>
        <p:nvSpPr>
          <p:cNvPr id="159" name="Google Shape;159;p21"/>
          <p:cNvSpPr txBox="1"/>
          <p:nvPr/>
        </p:nvSpPr>
        <p:spPr>
          <a:xfrm>
            <a:off x="139700" y="1237150"/>
            <a:ext cx="870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Medium"/>
                <a:ea typeface="Open Sans Medium"/>
                <a:cs typeface="Open Sans Medium"/>
                <a:sym typeface="Open Sans Medium"/>
              </a:rPr>
              <a:t>Gao's dataset contains WiFi signals captured at 5 MHz and their 4× downsampled versions at 1.25 MHz. We focused exclusively on these two resolutions.</a:t>
            </a:r>
            <a:endParaRPr>
              <a:solidFill>
                <a:srgbClr val="469CD4"/>
              </a:solidFill>
              <a:latin typeface="Open Sans Medium"/>
              <a:ea typeface="Open Sans Medium"/>
              <a:cs typeface="Open Sans Medium"/>
              <a:sym typeface="Open Sans Medium"/>
            </a:endParaRPr>
          </a:p>
        </p:txBody>
      </p:sp>
      <p:pic>
        <p:nvPicPr>
          <p:cNvPr id="160" name="Google Shape;160;p21"/>
          <p:cNvPicPr preferRelativeResize="0"/>
          <p:nvPr/>
        </p:nvPicPr>
        <p:blipFill rotWithShape="1">
          <a:blip r:embed="rId3">
            <a:alphaModFix/>
          </a:blip>
          <a:srcRect b="49535" l="0" r="0" t="5547"/>
          <a:stretch/>
        </p:blipFill>
        <p:spPr>
          <a:xfrm>
            <a:off x="179387" y="1870930"/>
            <a:ext cx="4106776" cy="918473"/>
          </a:xfrm>
          <a:prstGeom prst="rect">
            <a:avLst/>
          </a:prstGeom>
          <a:noFill/>
          <a:ln>
            <a:noFill/>
          </a:ln>
        </p:spPr>
      </p:pic>
      <p:pic>
        <p:nvPicPr>
          <p:cNvPr id="161" name="Google Shape;161;p21"/>
          <p:cNvPicPr preferRelativeResize="0"/>
          <p:nvPr/>
        </p:nvPicPr>
        <p:blipFill rotWithShape="1">
          <a:blip r:embed="rId3">
            <a:alphaModFix/>
          </a:blip>
          <a:srcRect b="0" l="0" r="0" t="52245"/>
          <a:stretch/>
        </p:blipFill>
        <p:spPr>
          <a:xfrm>
            <a:off x="4286163" y="1881487"/>
            <a:ext cx="4496676" cy="1069199"/>
          </a:xfrm>
          <a:prstGeom prst="rect">
            <a:avLst/>
          </a:prstGeom>
          <a:noFill/>
          <a:ln>
            <a:noFill/>
          </a:ln>
        </p:spPr>
      </p:pic>
      <p:sp>
        <p:nvSpPr>
          <p:cNvPr id="162" name="Google Shape;162;p21"/>
          <p:cNvSpPr txBox="1"/>
          <p:nvPr/>
        </p:nvSpPr>
        <p:spPr>
          <a:xfrm>
            <a:off x="348025" y="2994900"/>
            <a:ext cx="3846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69CD4"/>
                </a:solidFill>
                <a:latin typeface="Open Sans"/>
                <a:ea typeface="Open Sans"/>
                <a:cs typeface="Open Sans"/>
                <a:sym typeface="Open Sans"/>
              </a:rPr>
              <a:t>At 5 MHz, classification is a solved problem. Models achieve above 99% accuracy across all protocol classes.</a:t>
            </a:r>
            <a:endParaRPr>
              <a:solidFill>
                <a:srgbClr val="469CD4"/>
              </a:solidFill>
              <a:latin typeface="Open Sans"/>
              <a:ea typeface="Open Sans"/>
              <a:cs typeface="Open Sans"/>
              <a:sym typeface="Open Sans"/>
            </a:endParaRPr>
          </a:p>
        </p:txBody>
      </p:sp>
      <p:sp>
        <p:nvSpPr>
          <p:cNvPr id="163" name="Google Shape;163;p21"/>
          <p:cNvSpPr txBox="1"/>
          <p:nvPr/>
        </p:nvSpPr>
        <p:spPr>
          <a:xfrm>
            <a:off x="1640000" y="4031700"/>
            <a:ext cx="5706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69CD4"/>
                </a:solidFill>
                <a:latin typeface="Open Sans SemiBold"/>
                <a:ea typeface="Open Sans SemiBold"/>
                <a:cs typeface="Open Sans SemiBold"/>
                <a:sym typeface="Open Sans SemiBold"/>
              </a:rPr>
              <a:t>Can deep learning still classify WiFi protocols accurately from a signal that has lost three quarters of its frequency content and if not, where exactly does it fail and why?</a:t>
            </a:r>
            <a:endParaRPr>
              <a:solidFill>
                <a:srgbClr val="469CD4"/>
              </a:solidFill>
              <a:latin typeface="Open Sans SemiBold"/>
              <a:ea typeface="Open Sans SemiBold"/>
              <a:cs typeface="Open Sans SemiBold"/>
              <a:sym typeface="Open Sans SemiBold"/>
            </a:endParaRPr>
          </a:p>
        </p:txBody>
      </p:sp>
      <p:sp>
        <p:nvSpPr>
          <p:cNvPr id="164" name="Google Shape;164;p21"/>
          <p:cNvSpPr txBox="1"/>
          <p:nvPr/>
        </p:nvSpPr>
        <p:spPr>
          <a:xfrm>
            <a:off x="4611200" y="2994900"/>
            <a:ext cx="3846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69CD4"/>
                </a:solidFill>
                <a:latin typeface="Open Sans"/>
                <a:ea typeface="Open Sans"/>
                <a:cs typeface="Open Sans"/>
                <a:sym typeface="Open Sans"/>
              </a:rPr>
              <a:t>At 1.25 MHz, 75% of the spectral content is permanently destroyed by the anti-aliasing filter before any model ever sees the data.</a:t>
            </a:r>
            <a:endParaRPr>
              <a:solidFill>
                <a:srgbClr val="469CD4"/>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nvSpPr>
        <p:spPr>
          <a:xfrm>
            <a:off x="152388" y="2948100"/>
            <a:ext cx="87939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469CD4"/>
              </a:buClr>
              <a:buSzPts val="1400"/>
              <a:buChar char="●"/>
            </a:pPr>
            <a:r>
              <a:rPr b="1" lang="en">
                <a:solidFill>
                  <a:srgbClr val="469CD4"/>
                </a:solidFill>
                <a:latin typeface="Open Sans"/>
                <a:ea typeface="Open Sans"/>
                <a:cs typeface="Open Sans"/>
                <a:sym typeface="Open Sans"/>
              </a:rPr>
              <a:t>STF</a:t>
            </a:r>
            <a:r>
              <a:rPr lang="en">
                <a:solidFill>
                  <a:srgbClr val="469CD4"/>
                </a:solidFill>
                <a:latin typeface="Open Sans Medium"/>
                <a:ea typeface="Open Sans Medium"/>
                <a:cs typeface="Open Sans Medium"/>
                <a:sym typeface="Open Sans Medium"/>
              </a:rPr>
              <a:t>: A fixed pattern sent at the start of every WiFi packet. It tells the router that data is coming</a:t>
            </a:r>
            <a:endParaRPr b="1">
              <a:solidFill>
                <a:srgbClr val="469CD4"/>
              </a:solidFill>
              <a:latin typeface="Open Sans"/>
              <a:ea typeface="Open Sans"/>
              <a:cs typeface="Open Sans"/>
              <a:sym typeface="Open Sans"/>
            </a:endParaRPr>
          </a:p>
          <a:p>
            <a:pPr indent="-317500" lvl="0" marL="457200" rtl="0" algn="l">
              <a:spcBef>
                <a:spcPts val="0"/>
              </a:spcBef>
              <a:spcAft>
                <a:spcPts val="0"/>
              </a:spcAft>
              <a:buClr>
                <a:srgbClr val="469CD4"/>
              </a:buClr>
              <a:buSzPts val="1400"/>
              <a:buChar char="●"/>
            </a:pPr>
            <a:r>
              <a:rPr b="1" lang="en">
                <a:solidFill>
                  <a:srgbClr val="469CD4"/>
                </a:solidFill>
                <a:latin typeface="Open Sans"/>
                <a:ea typeface="Open Sans"/>
                <a:cs typeface="Open Sans"/>
                <a:sym typeface="Open Sans"/>
              </a:rPr>
              <a:t>LFT</a:t>
            </a:r>
            <a:r>
              <a:rPr lang="en">
                <a:solidFill>
                  <a:srgbClr val="469CD4"/>
                </a:solidFill>
                <a:latin typeface="Open Sans Medium"/>
                <a:ea typeface="Open Sans Medium"/>
                <a:cs typeface="Open Sans Medium"/>
                <a:sym typeface="Open Sans Medium"/>
              </a:rPr>
              <a:t>:H</a:t>
            </a:r>
            <a:r>
              <a:rPr lang="en">
                <a:solidFill>
                  <a:srgbClr val="469CD4"/>
                </a:solidFill>
                <a:latin typeface="Open Sans Medium"/>
                <a:ea typeface="Open Sans Medium"/>
                <a:cs typeface="Open Sans Medium"/>
                <a:sym typeface="Open Sans Medium"/>
              </a:rPr>
              <a:t>ow the signal was distorted by walls, interference, and reflections. Information for the </a:t>
            </a:r>
            <a:r>
              <a:rPr lang="en">
                <a:solidFill>
                  <a:srgbClr val="469CD4"/>
                </a:solidFill>
                <a:latin typeface="Open Sans Medium"/>
                <a:ea typeface="Open Sans Medium"/>
                <a:cs typeface="Open Sans Medium"/>
                <a:sym typeface="Open Sans Medium"/>
              </a:rPr>
              <a:t>receiver</a:t>
            </a:r>
            <a:r>
              <a:rPr lang="en">
                <a:solidFill>
                  <a:srgbClr val="469CD4"/>
                </a:solidFill>
                <a:latin typeface="Open Sans Medium"/>
                <a:ea typeface="Open Sans Medium"/>
                <a:cs typeface="Open Sans Medium"/>
                <a:sym typeface="Open Sans Medium"/>
              </a:rPr>
              <a:t> to calibrate itself to read what follows.</a:t>
            </a:r>
            <a:endParaRPr>
              <a:solidFill>
                <a:srgbClr val="469CD4"/>
              </a:solidFill>
              <a:latin typeface="Open Sans Medium"/>
              <a:ea typeface="Open Sans Medium"/>
              <a:cs typeface="Open Sans Medium"/>
              <a:sym typeface="Open Sans Medium"/>
            </a:endParaRPr>
          </a:p>
          <a:p>
            <a:pPr indent="-317500" lvl="0" marL="457200" rtl="0" algn="l">
              <a:spcBef>
                <a:spcPts val="0"/>
              </a:spcBef>
              <a:spcAft>
                <a:spcPts val="0"/>
              </a:spcAft>
              <a:buClr>
                <a:srgbClr val="469CD4"/>
              </a:buClr>
              <a:buSzPts val="1400"/>
              <a:buChar char="●"/>
            </a:pPr>
            <a:r>
              <a:rPr b="1" lang="en">
                <a:solidFill>
                  <a:srgbClr val="469CD4"/>
                </a:solidFill>
                <a:latin typeface="Open Sans"/>
                <a:ea typeface="Open Sans"/>
                <a:cs typeface="Open Sans"/>
                <a:sym typeface="Open Sans"/>
              </a:rPr>
              <a:t>LSIG: </a:t>
            </a:r>
            <a:r>
              <a:rPr lang="en">
                <a:solidFill>
                  <a:srgbClr val="469CD4"/>
                </a:solidFill>
                <a:latin typeface="Open Sans Medium"/>
                <a:ea typeface="Open Sans Medium"/>
                <a:cs typeface="Open Sans Medium"/>
                <a:sym typeface="Open Sans Medium"/>
              </a:rPr>
              <a:t>Contains the rate, packet length, and a protocol hint. This is what you tried to decode first.</a:t>
            </a:r>
            <a:endParaRPr>
              <a:solidFill>
                <a:srgbClr val="469CD4"/>
              </a:solidFill>
              <a:latin typeface="Open Sans Medium"/>
              <a:ea typeface="Open Sans Medium"/>
              <a:cs typeface="Open Sans Medium"/>
              <a:sym typeface="Open Sans Medium"/>
            </a:endParaRPr>
          </a:p>
          <a:p>
            <a:pPr indent="-317500" lvl="0" marL="457200" rtl="0" algn="l">
              <a:spcBef>
                <a:spcPts val="0"/>
              </a:spcBef>
              <a:spcAft>
                <a:spcPts val="0"/>
              </a:spcAft>
              <a:buClr>
                <a:srgbClr val="469CD4"/>
              </a:buClr>
              <a:buSzPts val="1400"/>
              <a:buFont typeface="Open Sans"/>
              <a:buChar char="●"/>
            </a:pPr>
            <a:r>
              <a:rPr b="1" lang="en">
                <a:solidFill>
                  <a:srgbClr val="469CD4"/>
                </a:solidFill>
                <a:latin typeface="Open Sans"/>
                <a:ea typeface="Open Sans"/>
                <a:cs typeface="Open Sans"/>
                <a:sym typeface="Open Sans"/>
              </a:rPr>
              <a:t>HT-SIG: </a:t>
            </a:r>
            <a:r>
              <a:rPr lang="en">
                <a:solidFill>
                  <a:srgbClr val="469CD4"/>
                </a:solidFill>
                <a:latin typeface="Open Sans Medium"/>
                <a:ea typeface="Open Sans Medium"/>
                <a:cs typeface="Open Sans Medium"/>
                <a:sym typeface="Open Sans Medium"/>
              </a:rPr>
              <a:t>Only in HT + VHT. Contains protocol-specific parameters. Used as protocol identifier.</a:t>
            </a:r>
            <a:endParaRPr>
              <a:solidFill>
                <a:srgbClr val="469CD4"/>
              </a:solidFill>
              <a:latin typeface="Open Sans Medium"/>
              <a:ea typeface="Open Sans Medium"/>
              <a:cs typeface="Open Sans Medium"/>
              <a:sym typeface="Open Sans Medium"/>
            </a:endParaRPr>
          </a:p>
          <a:p>
            <a:pPr indent="-317500" lvl="0" marL="457200" rtl="0" algn="l">
              <a:spcBef>
                <a:spcPts val="0"/>
              </a:spcBef>
              <a:spcAft>
                <a:spcPts val="0"/>
              </a:spcAft>
              <a:buClr>
                <a:srgbClr val="469CD4"/>
              </a:buClr>
              <a:buSzPts val="1400"/>
              <a:buFont typeface="Open Sans Medium"/>
              <a:buChar char="●"/>
            </a:pPr>
            <a:r>
              <a:rPr b="1" lang="en">
                <a:solidFill>
                  <a:srgbClr val="469CD4"/>
                </a:solidFill>
                <a:latin typeface="Open Sans"/>
                <a:ea typeface="Open Sans"/>
                <a:cs typeface="Open Sans"/>
                <a:sym typeface="Open Sans"/>
              </a:rPr>
              <a:t>HT-STF:</a:t>
            </a:r>
            <a:r>
              <a:rPr lang="en">
                <a:solidFill>
                  <a:srgbClr val="469CD4"/>
                </a:solidFill>
                <a:latin typeface="Open Sans Medium"/>
                <a:ea typeface="Open Sans Medium"/>
                <a:cs typeface="Open Sans Medium"/>
                <a:sym typeface="Open Sans Medium"/>
              </a:rPr>
              <a:t> Only in HT/VHT. A second training sequence specifically for multiple antenna systems.</a:t>
            </a:r>
            <a:endParaRPr>
              <a:solidFill>
                <a:srgbClr val="469CD4"/>
              </a:solidFill>
              <a:latin typeface="Open Sans Medium"/>
              <a:ea typeface="Open Sans Medium"/>
              <a:cs typeface="Open Sans Medium"/>
              <a:sym typeface="Open Sans Medium"/>
            </a:endParaRPr>
          </a:p>
          <a:p>
            <a:pPr indent="-317500" lvl="0" marL="457200" rtl="0" algn="l">
              <a:spcBef>
                <a:spcPts val="0"/>
              </a:spcBef>
              <a:spcAft>
                <a:spcPts val="0"/>
              </a:spcAft>
              <a:buClr>
                <a:srgbClr val="469CD4"/>
              </a:buClr>
              <a:buSzPts val="1400"/>
              <a:buFont typeface="Open Sans Medium"/>
              <a:buChar char="●"/>
            </a:pPr>
            <a:r>
              <a:rPr b="1" lang="en">
                <a:solidFill>
                  <a:srgbClr val="469CD4"/>
                </a:solidFill>
                <a:latin typeface="Open Sans"/>
                <a:ea typeface="Open Sans"/>
                <a:cs typeface="Open Sans"/>
                <a:sym typeface="Open Sans"/>
              </a:rPr>
              <a:t>HT-LTF: </a:t>
            </a:r>
            <a:r>
              <a:rPr lang="en">
                <a:solidFill>
                  <a:srgbClr val="469CD4"/>
                </a:solidFill>
                <a:latin typeface="Open Sans Medium"/>
                <a:ea typeface="Open Sans Medium"/>
                <a:cs typeface="Open Sans Medium"/>
                <a:sym typeface="Open Sans Medium"/>
              </a:rPr>
              <a:t>Only in HT/VHT. Additional channel estimation for each spatial stream.</a:t>
            </a:r>
            <a:endParaRPr>
              <a:solidFill>
                <a:srgbClr val="469CD4"/>
              </a:solidFill>
              <a:latin typeface="Open Sans Medium"/>
              <a:ea typeface="Open Sans Medium"/>
              <a:cs typeface="Open Sans Medium"/>
              <a:sym typeface="Open Sans Medium"/>
            </a:endParaRPr>
          </a:p>
        </p:txBody>
      </p:sp>
      <p:sp>
        <p:nvSpPr>
          <p:cNvPr id="170" name="Google Shape;170;p22"/>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71" name="Google Shape;171;p22"/>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1</a:t>
            </a:r>
            <a:endParaRPr b="1" sz="3300">
              <a:solidFill>
                <a:schemeClr val="lt1"/>
              </a:solidFill>
              <a:latin typeface="Open Sans"/>
              <a:ea typeface="Open Sans"/>
              <a:cs typeface="Open Sans"/>
              <a:sym typeface="Open Sans"/>
            </a:endParaRPr>
          </a:p>
        </p:txBody>
      </p:sp>
      <p:sp>
        <p:nvSpPr>
          <p:cNvPr id="172" name="Google Shape;172;p22"/>
          <p:cNvSpPr txBox="1"/>
          <p:nvPr/>
        </p:nvSpPr>
        <p:spPr>
          <a:xfrm>
            <a:off x="152400" y="1212275"/>
            <a:ext cx="87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Early attempts focused on decoding extracting L-SIG bits and preamble structure directly.</a:t>
            </a:r>
            <a:endParaRPr>
              <a:solidFill>
                <a:srgbClr val="469CD4"/>
              </a:solidFill>
              <a:latin typeface="Open Sans"/>
              <a:ea typeface="Open Sans"/>
              <a:cs typeface="Open Sans"/>
              <a:sym typeface="Open Sans"/>
            </a:endParaRPr>
          </a:p>
        </p:txBody>
      </p:sp>
      <p:pic>
        <p:nvPicPr>
          <p:cNvPr id="173" name="Google Shape;173;p22"/>
          <p:cNvPicPr preferRelativeResize="0"/>
          <p:nvPr/>
        </p:nvPicPr>
        <p:blipFill rotWithShape="1">
          <a:blip r:embed="rId3">
            <a:alphaModFix/>
          </a:blip>
          <a:srcRect b="53824" l="0" r="0" t="31584"/>
          <a:stretch/>
        </p:blipFill>
        <p:spPr>
          <a:xfrm>
            <a:off x="400450" y="1879525"/>
            <a:ext cx="8343076" cy="604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nvSpPr>
        <p:spPr>
          <a:xfrm>
            <a:off x="1055226" y="2170150"/>
            <a:ext cx="3000000" cy="256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rgbClr val="469CD4"/>
                </a:solidFill>
                <a:latin typeface="Open Sans"/>
                <a:ea typeface="Open Sans"/>
                <a:cs typeface="Open Sans"/>
                <a:sym typeface="Open Sans"/>
              </a:rPr>
              <a:t>Traditional Approach</a:t>
            </a:r>
            <a:endParaRPr sz="1600">
              <a:solidFill>
                <a:srgbClr val="469CD4"/>
              </a:solidFill>
              <a:latin typeface="Open Sans"/>
              <a:ea typeface="Open Sans"/>
              <a:cs typeface="Open Sans"/>
              <a:sym typeface="Open Sans"/>
            </a:endParaRPr>
          </a:p>
          <a:p>
            <a:pPr indent="-330200" lvl="0" marL="457200" rtl="0" algn="l">
              <a:lnSpc>
                <a:spcPct val="115000"/>
              </a:lnSpc>
              <a:spcBef>
                <a:spcPts val="120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Detect preamble</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Decode L-SIG bits</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Read protocol from header</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Requires clean signal</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Fails below Nyquist</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Breaks at 1.25 MHz</a:t>
            </a:r>
            <a:endParaRPr sz="1600">
              <a:solidFill>
                <a:srgbClr val="469CD4"/>
              </a:solidFill>
              <a:latin typeface="Open Sans"/>
              <a:ea typeface="Open Sans"/>
              <a:cs typeface="Open Sans"/>
              <a:sym typeface="Open Sans"/>
            </a:endParaRPr>
          </a:p>
        </p:txBody>
      </p:sp>
      <p:sp>
        <p:nvSpPr>
          <p:cNvPr id="179" name="Google Shape;179;p23"/>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80" name="Google Shape;180;p23"/>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2</a:t>
            </a:r>
            <a:endParaRPr b="1" sz="3300">
              <a:solidFill>
                <a:schemeClr val="lt1"/>
              </a:solidFill>
              <a:latin typeface="Open Sans"/>
              <a:ea typeface="Open Sans"/>
              <a:cs typeface="Open Sans"/>
              <a:sym typeface="Open Sans"/>
            </a:endParaRPr>
          </a:p>
        </p:txBody>
      </p:sp>
      <p:sp>
        <p:nvSpPr>
          <p:cNvPr id="181" name="Google Shape;181;p23"/>
          <p:cNvSpPr txBox="1"/>
          <p:nvPr/>
        </p:nvSpPr>
        <p:spPr>
          <a:xfrm>
            <a:off x="98850" y="1217750"/>
            <a:ext cx="8946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You do not need to read the bits at all. The entire content before the data STF, LTF, L-SIG leaves a physical pattern in the IQ signal that a neural network can learn to recognize without ever decoding a single bit.</a:t>
            </a:r>
            <a:endParaRPr>
              <a:solidFill>
                <a:srgbClr val="469CD4"/>
              </a:solidFill>
              <a:latin typeface="Open Sans"/>
              <a:ea typeface="Open Sans"/>
              <a:cs typeface="Open Sans"/>
              <a:sym typeface="Open Sans"/>
            </a:endParaRPr>
          </a:p>
        </p:txBody>
      </p:sp>
      <p:sp>
        <p:nvSpPr>
          <p:cNvPr id="182" name="Google Shape;182;p23"/>
          <p:cNvSpPr txBox="1"/>
          <p:nvPr/>
        </p:nvSpPr>
        <p:spPr>
          <a:xfrm>
            <a:off x="5026950" y="2170150"/>
            <a:ext cx="3000000" cy="256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rgbClr val="469CD4"/>
                </a:solidFill>
                <a:latin typeface="Open Sans"/>
                <a:ea typeface="Open Sans"/>
                <a:cs typeface="Open Sans"/>
                <a:sym typeface="Open Sans"/>
              </a:rPr>
              <a:t>Our Approach</a:t>
            </a:r>
            <a:endParaRPr sz="1600">
              <a:solidFill>
                <a:srgbClr val="469CD4"/>
              </a:solidFill>
              <a:latin typeface="Open Sans"/>
              <a:ea typeface="Open Sans"/>
              <a:cs typeface="Open Sans"/>
              <a:sym typeface="Open Sans"/>
            </a:endParaRPr>
          </a:p>
          <a:p>
            <a:pPr indent="-330200" lvl="0" marL="457200" rtl="0" algn="l">
              <a:lnSpc>
                <a:spcPct val="115000"/>
              </a:lnSpc>
              <a:spcBef>
                <a:spcPts val="120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Feed raw IQ directly</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No decoding needed</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No bit extraction</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Model learns the pattern</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Works on degraded signals</a:t>
            </a:r>
            <a:endParaRPr sz="1600">
              <a:solidFill>
                <a:srgbClr val="469CD4"/>
              </a:solidFill>
              <a:latin typeface="Open Sans"/>
              <a:ea typeface="Open Sans"/>
              <a:cs typeface="Open Sans"/>
              <a:sym typeface="Open Sans"/>
            </a:endParaRPr>
          </a:p>
          <a:p>
            <a:pPr indent="-330200" lvl="0" marL="457200" rtl="0" algn="l">
              <a:lnSpc>
                <a:spcPct val="115000"/>
              </a:lnSpc>
              <a:spcBef>
                <a:spcPts val="0"/>
              </a:spcBef>
              <a:spcAft>
                <a:spcPts val="0"/>
              </a:spcAft>
              <a:buClr>
                <a:srgbClr val="469CD4"/>
              </a:buClr>
              <a:buSzPts val="1600"/>
              <a:buFont typeface="Open Sans"/>
              <a:buChar char="●"/>
            </a:pPr>
            <a:r>
              <a:rPr lang="en" sz="1600">
                <a:solidFill>
                  <a:srgbClr val="469CD4"/>
                </a:solidFill>
                <a:latin typeface="Open Sans"/>
                <a:ea typeface="Open Sans"/>
                <a:cs typeface="Open Sans"/>
                <a:sym typeface="Open Sans"/>
              </a:rPr>
              <a:t>Scales to any resolution</a:t>
            </a:r>
            <a:endParaRPr sz="1600">
              <a:solidFill>
                <a:srgbClr val="469CD4"/>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88" name="Google Shape;188;p24"/>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2</a:t>
            </a:r>
            <a:endParaRPr b="1" sz="3300">
              <a:solidFill>
                <a:schemeClr val="lt1"/>
              </a:solidFill>
              <a:latin typeface="Open Sans"/>
              <a:ea typeface="Open Sans"/>
              <a:cs typeface="Open Sans"/>
              <a:sym typeface="Open Sans"/>
            </a:endParaRPr>
          </a:p>
        </p:txBody>
      </p:sp>
      <p:sp>
        <p:nvSpPr>
          <p:cNvPr id="189" name="Google Shape;189;p24"/>
          <p:cNvSpPr txBox="1"/>
          <p:nvPr/>
        </p:nvSpPr>
        <p:spPr>
          <a:xfrm>
            <a:off x="19250" y="1157950"/>
            <a:ext cx="9384900" cy="7803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lang="en" sz="1800">
                <a:solidFill>
                  <a:srgbClr val="469CD4"/>
                </a:solidFill>
                <a:latin typeface="Open Sans"/>
                <a:ea typeface="Open Sans"/>
                <a:cs typeface="Open Sans"/>
                <a:sym typeface="Open Sans"/>
              </a:rPr>
              <a:t>Before claiming a ceiling exists, we had to prove no standard architecture could break it.</a:t>
            </a:r>
            <a:endParaRPr sz="1800">
              <a:solidFill>
                <a:srgbClr val="469CD4"/>
              </a:solidFill>
              <a:latin typeface="Open Sans"/>
              <a:ea typeface="Open Sans"/>
              <a:cs typeface="Open Sans"/>
              <a:sym typeface="Open Sans"/>
            </a:endParaRPr>
          </a:p>
        </p:txBody>
      </p:sp>
      <p:pic>
        <p:nvPicPr>
          <p:cNvPr id="190" name="Google Shape;190;p24"/>
          <p:cNvPicPr preferRelativeResize="0"/>
          <p:nvPr/>
        </p:nvPicPr>
        <p:blipFill rotWithShape="1">
          <a:blip r:embed="rId3">
            <a:alphaModFix/>
          </a:blip>
          <a:srcRect b="8874" l="0" r="0" t="15540"/>
          <a:stretch/>
        </p:blipFill>
        <p:spPr>
          <a:xfrm>
            <a:off x="235688" y="1848975"/>
            <a:ext cx="8672624" cy="2054425"/>
          </a:xfrm>
          <a:prstGeom prst="rect">
            <a:avLst/>
          </a:prstGeom>
          <a:noFill/>
          <a:ln>
            <a:noFill/>
          </a:ln>
        </p:spPr>
      </p:pic>
      <p:sp>
        <p:nvSpPr>
          <p:cNvPr id="191" name="Google Shape;191;p24"/>
          <p:cNvSpPr txBox="1"/>
          <p:nvPr/>
        </p:nvSpPr>
        <p:spPr>
          <a:xfrm>
            <a:off x="280125" y="3903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Observations</a:t>
            </a:r>
            <a:endParaRPr b="1">
              <a:solidFill>
                <a:srgbClr val="469CD4"/>
              </a:solidFill>
              <a:latin typeface="Open Sans"/>
              <a:ea typeface="Open Sans"/>
              <a:cs typeface="Open Sans"/>
              <a:sym typeface="Open Sans"/>
            </a:endParaRPr>
          </a:p>
        </p:txBody>
      </p:sp>
      <p:sp>
        <p:nvSpPr>
          <p:cNvPr id="192" name="Google Shape;192;p24"/>
          <p:cNvSpPr txBox="1"/>
          <p:nvPr/>
        </p:nvSpPr>
        <p:spPr>
          <a:xfrm>
            <a:off x="197700" y="4223375"/>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469CD4"/>
                </a:solidFill>
                <a:latin typeface="Open Sans"/>
                <a:ea typeface="Open Sans"/>
                <a:cs typeface="Open Sans"/>
                <a:sym typeface="Open Sans"/>
              </a:rPr>
              <a:t>All six models achieve between 94.75% and 94.89% overall. This looks like success until you look at VHT.</a:t>
            </a:r>
            <a:endParaRPr sz="1100">
              <a:solidFill>
                <a:srgbClr val="469CD4"/>
              </a:solidFill>
              <a:latin typeface="Open Sans"/>
              <a:ea typeface="Open Sans"/>
              <a:cs typeface="Open Sans"/>
              <a:sym typeface="Open Sans"/>
            </a:endParaRPr>
          </a:p>
        </p:txBody>
      </p:sp>
      <p:sp>
        <p:nvSpPr>
          <p:cNvPr id="193" name="Google Shape;193;p24"/>
          <p:cNvSpPr txBox="1"/>
          <p:nvPr/>
        </p:nvSpPr>
        <p:spPr>
          <a:xfrm>
            <a:off x="3136075" y="4025075"/>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469CD4"/>
                </a:solidFill>
                <a:latin typeface="Open Sans"/>
                <a:ea typeface="Open Sans"/>
                <a:cs typeface="Open Sans"/>
                <a:sym typeface="Open Sans"/>
              </a:rPr>
              <a:t>VHT accuracy spans only 54.7% to 58.0% above random chance for a 4-class problem. Adding more parameters, more layers, more attention heads: none of it helped.</a:t>
            </a:r>
            <a:endParaRPr sz="1100"/>
          </a:p>
        </p:txBody>
      </p:sp>
      <p:sp>
        <p:nvSpPr>
          <p:cNvPr id="194" name="Google Shape;194;p24"/>
          <p:cNvSpPr txBox="1"/>
          <p:nvPr/>
        </p:nvSpPr>
        <p:spPr>
          <a:xfrm>
            <a:off x="6013200" y="3958842"/>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469CD4"/>
                </a:solidFill>
                <a:latin typeface="Open Sans"/>
                <a:ea typeface="Open Sans"/>
                <a:cs typeface="Open Sans"/>
                <a:sym typeface="Open Sans"/>
              </a:rPr>
              <a:t>The 1.1M parameter TCN and the 20.5M parameter CNN+Transformer achieved identical Non-HT and HT accuracy and differed by under 2 points on VHT. That is a 20× difference in size with essentially zero difference in outcome.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00" name="Google Shape;200;p25"/>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Knowledge Distillation </a:t>
            </a:r>
            <a:endParaRPr b="1" sz="3300">
              <a:solidFill>
                <a:schemeClr val="lt1"/>
              </a:solidFill>
              <a:latin typeface="Open Sans"/>
              <a:ea typeface="Open Sans"/>
              <a:cs typeface="Open Sans"/>
              <a:sym typeface="Open Sans"/>
            </a:endParaRPr>
          </a:p>
        </p:txBody>
      </p:sp>
      <p:sp>
        <p:nvSpPr>
          <p:cNvPr id="201" name="Google Shape;201;p25"/>
          <p:cNvSpPr txBox="1"/>
          <p:nvPr/>
        </p:nvSpPr>
        <p:spPr>
          <a:xfrm>
            <a:off x="139700" y="1206475"/>
            <a:ext cx="432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469CD4"/>
                </a:solidFill>
                <a:latin typeface="Open Sans"/>
                <a:ea typeface="Open Sans"/>
                <a:cs typeface="Open Sans"/>
                <a:sym typeface="Open Sans"/>
              </a:rPr>
              <a:t>Surely a Smarter Teacher Can Help?</a:t>
            </a:r>
            <a:endParaRPr b="1" sz="1600">
              <a:solidFill>
                <a:srgbClr val="469CD4"/>
              </a:solidFill>
              <a:latin typeface="Open Sans"/>
              <a:ea typeface="Open Sans"/>
              <a:cs typeface="Open Sans"/>
              <a:sym typeface="Open Sans"/>
            </a:endParaRPr>
          </a:p>
        </p:txBody>
      </p:sp>
      <p:sp>
        <p:nvSpPr>
          <p:cNvPr id="202" name="Google Shape;202;p25"/>
          <p:cNvSpPr txBox="1"/>
          <p:nvPr/>
        </p:nvSpPr>
        <p:spPr>
          <a:xfrm>
            <a:off x="139700" y="1587500"/>
            <a:ext cx="42168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69CD4"/>
                </a:solidFill>
                <a:latin typeface="Open Sans"/>
                <a:ea typeface="Open Sans"/>
                <a:cs typeface="Open Sans"/>
                <a:sym typeface="Open Sans"/>
              </a:rPr>
              <a:t>No simple architecture broke the ceiling. But what if we use a model that has already seen the full signal and transfer its knowledge to the low-resolution student?</a:t>
            </a:r>
            <a:endParaRPr sz="10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000">
              <a:solidFill>
                <a:srgbClr val="469CD4"/>
              </a:solidFill>
              <a:latin typeface="Open Sans"/>
              <a:ea typeface="Open Sans"/>
              <a:cs typeface="Open Sans"/>
              <a:sym typeface="Open Sans"/>
            </a:endParaRPr>
          </a:p>
          <a:p>
            <a:pPr indent="0" lvl="0" marL="0" rtl="0" algn="l">
              <a:spcBef>
                <a:spcPts val="0"/>
              </a:spcBef>
              <a:spcAft>
                <a:spcPts val="0"/>
              </a:spcAft>
              <a:buNone/>
            </a:pPr>
            <a:r>
              <a:rPr lang="en" sz="1000">
                <a:solidFill>
                  <a:srgbClr val="469CD4"/>
                </a:solidFill>
                <a:latin typeface="Open Sans"/>
                <a:ea typeface="Open Sans"/>
                <a:cs typeface="Open Sans"/>
                <a:sym typeface="Open Sans"/>
              </a:rPr>
              <a:t>Teacher model on high res accuracy:</a:t>
            </a:r>
            <a:endParaRPr sz="1000">
              <a:solidFill>
                <a:srgbClr val="469CD4"/>
              </a:solidFill>
              <a:latin typeface="Open Sans"/>
              <a:ea typeface="Open Sans"/>
              <a:cs typeface="Open Sans"/>
              <a:sym typeface="Open Sans"/>
            </a:endParaRPr>
          </a:p>
          <a:p>
            <a:pPr indent="-292100" lvl="0" marL="457200" rtl="0" algn="l">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99.7% Non-HT</a:t>
            </a:r>
            <a:endParaRPr sz="1000">
              <a:solidFill>
                <a:srgbClr val="469CD4"/>
              </a:solidFill>
              <a:latin typeface="Open Sans"/>
              <a:ea typeface="Open Sans"/>
              <a:cs typeface="Open Sans"/>
              <a:sym typeface="Open Sans"/>
            </a:endParaRPr>
          </a:p>
          <a:p>
            <a:pPr indent="-292100" lvl="0" marL="457200" rtl="0" algn="l">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99.1% HT</a:t>
            </a:r>
            <a:endParaRPr sz="1000">
              <a:solidFill>
                <a:srgbClr val="469CD4"/>
              </a:solidFill>
              <a:latin typeface="Open Sans"/>
              <a:ea typeface="Open Sans"/>
              <a:cs typeface="Open Sans"/>
              <a:sym typeface="Open Sans"/>
            </a:endParaRPr>
          </a:p>
          <a:p>
            <a:pPr indent="-292100" lvl="0" marL="457200" rtl="0" algn="l">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98.7% VHT</a:t>
            </a:r>
            <a:endParaRPr sz="1000">
              <a:solidFill>
                <a:srgbClr val="469CD4"/>
              </a:solidFill>
              <a:latin typeface="Open Sans"/>
              <a:ea typeface="Open Sans"/>
              <a:cs typeface="Open Sans"/>
              <a:sym typeface="Open Sans"/>
            </a:endParaRPr>
          </a:p>
          <a:p>
            <a:pPr indent="0" lvl="0" marL="0" rtl="0" algn="l">
              <a:spcBef>
                <a:spcPts val="0"/>
              </a:spcBef>
              <a:spcAft>
                <a:spcPts val="0"/>
              </a:spcAft>
              <a:buNone/>
            </a:pPr>
            <a:r>
              <a:t/>
            </a:r>
            <a:endParaRPr sz="1000">
              <a:solidFill>
                <a:srgbClr val="469CD4"/>
              </a:solidFill>
              <a:latin typeface="Open Sans"/>
              <a:ea typeface="Open Sans"/>
              <a:cs typeface="Open Sans"/>
              <a:sym typeface="Open Sans"/>
            </a:endParaRPr>
          </a:p>
          <a:p>
            <a:pPr indent="0" lvl="0" marL="0" marR="0" rtl="0" algn="l">
              <a:lnSpc>
                <a:spcPct val="100000"/>
              </a:lnSpc>
              <a:spcBef>
                <a:spcPts val="0"/>
              </a:spcBef>
              <a:spcAft>
                <a:spcPts val="0"/>
              </a:spcAft>
              <a:buNone/>
            </a:pPr>
            <a:r>
              <a:rPr b="1" lang="en" sz="1000">
                <a:solidFill>
                  <a:srgbClr val="469CD4"/>
                </a:solidFill>
                <a:latin typeface="Open Sans"/>
                <a:ea typeface="Open Sans"/>
                <a:cs typeface="Open Sans"/>
                <a:sym typeface="Open Sans"/>
              </a:rPr>
              <a:t>MSE Distillation</a:t>
            </a:r>
            <a:endParaRPr b="1" sz="1000">
              <a:solidFill>
                <a:srgbClr val="469CD4"/>
              </a:solidFill>
              <a:latin typeface="Open Sans"/>
              <a:ea typeface="Open Sans"/>
              <a:cs typeface="Open Sans"/>
              <a:sym typeface="Open Sans"/>
            </a:endParaRPr>
          </a:p>
          <a:p>
            <a:pPr indent="-292100" lvl="0" marL="457200" marR="0" rtl="0" algn="l">
              <a:lnSpc>
                <a:spcPct val="100000"/>
              </a:lnSpc>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Force student embeddings to match teacher embeddings exactly using mean squared error</a:t>
            </a:r>
            <a:endParaRPr sz="1000">
              <a:solidFill>
                <a:srgbClr val="469CD4"/>
              </a:solidFill>
              <a:latin typeface="Open Sans"/>
              <a:ea typeface="Open Sans"/>
              <a:cs typeface="Open Sans"/>
              <a:sym typeface="Open Sans"/>
            </a:endParaRPr>
          </a:p>
          <a:p>
            <a:pPr indent="0" lvl="0" marL="0" marR="0" rtl="0" algn="l">
              <a:lnSpc>
                <a:spcPct val="100000"/>
              </a:lnSpc>
              <a:spcBef>
                <a:spcPts val="0"/>
              </a:spcBef>
              <a:spcAft>
                <a:spcPts val="0"/>
              </a:spcAft>
              <a:buNone/>
            </a:pPr>
            <a:r>
              <a:rPr b="1" lang="en" sz="1000">
                <a:solidFill>
                  <a:srgbClr val="469CD4"/>
                </a:solidFill>
                <a:latin typeface="Open Sans"/>
                <a:ea typeface="Open Sans"/>
                <a:cs typeface="Open Sans"/>
                <a:sym typeface="Open Sans"/>
              </a:rPr>
              <a:t>Cosine Distillation</a:t>
            </a:r>
            <a:endParaRPr b="1" sz="1000">
              <a:solidFill>
                <a:srgbClr val="469CD4"/>
              </a:solidFill>
              <a:latin typeface="Open Sans"/>
              <a:ea typeface="Open Sans"/>
              <a:cs typeface="Open Sans"/>
              <a:sym typeface="Open Sans"/>
            </a:endParaRPr>
          </a:p>
          <a:p>
            <a:pPr indent="-292100" lvl="0" marL="457200" marR="0" rtl="0" algn="l">
              <a:lnSpc>
                <a:spcPct val="100000"/>
              </a:lnSpc>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Align the direction of student and teacher embeddings rather than exact magnitude</a:t>
            </a:r>
            <a:endParaRPr sz="1000">
              <a:solidFill>
                <a:srgbClr val="469CD4"/>
              </a:solidFill>
              <a:latin typeface="Open Sans"/>
              <a:ea typeface="Open Sans"/>
              <a:cs typeface="Open Sans"/>
              <a:sym typeface="Open Sans"/>
            </a:endParaRPr>
          </a:p>
          <a:p>
            <a:pPr indent="0" lvl="0" marL="0" marR="0" rtl="0" algn="l">
              <a:lnSpc>
                <a:spcPct val="100000"/>
              </a:lnSpc>
              <a:spcBef>
                <a:spcPts val="0"/>
              </a:spcBef>
              <a:spcAft>
                <a:spcPts val="0"/>
              </a:spcAft>
              <a:buNone/>
            </a:pPr>
            <a:r>
              <a:rPr b="1" lang="en" sz="1000">
                <a:solidFill>
                  <a:srgbClr val="469CD4"/>
                </a:solidFill>
                <a:latin typeface="Open Sans"/>
                <a:ea typeface="Open Sans"/>
                <a:cs typeface="Open Sans"/>
                <a:sym typeface="Open Sans"/>
              </a:rPr>
              <a:t>Intermediate Feature Distillation</a:t>
            </a:r>
            <a:endParaRPr b="1" sz="1000">
              <a:solidFill>
                <a:srgbClr val="469CD4"/>
              </a:solidFill>
              <a:latin typeface="Open Sans"/>
              <a:ea typeface="Open Sans"/>
              <a:cs typeface="Open Sans"/>
              <a:sym typeface="Open Sans"/>
            </a:endParaRPr>
          </a:p>
          <a:p>
            <a:pPr indent="-292100" lvl="0" marL="457200" marR="0" rtl="0" algn="l">
              <a:lnSpc>
                <a:spcPct val="100000"/>
              </a:lnSpc>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Match not just the final embedding but intermediate CNN feature maps at two points inside the network</a:t>
            </a:r>
            <a:endParaRPr sz="1000">
              <a:solidFill>
                <a:srgbClr val="469CD4"/>
              </a:solidFill>
              <a:latin typeface="Open Sans"/>
              <a:ea typeface="Open Sans"/>
              <a:cs typeface="Open Sans"/>
              <a:sym typeface="Open Sans"/>
            </a:endParaRPr>
          </a:p>
          <a:p>
            <a:pPr indent="0" lvl="0" marL="0" marR="0" rtl="0" algn="l">
              <a:lnSpc>
                <a:spcPct val="100000"/>
              </a:lnSpc>
              <a:spcBef>
                <a:spcPts val="0"/>
              </a:spcBef>
              <a:spcAft>
                <a:spcPts val="0"/>
              </a:spcAft>
              <a:buNone/>
            </a:pPr>
            <a:r>
              <a:rPr b="1" lang="en" sz="1000">
                <a:solidFill>
                  <a:srgbClr val="469CD4"/>
                </a:solidFill>
                <a:latin typeface="Open Sans"/>
                <a:ea typeface="Open Sans"/>
                <a:cs typeface="Open Sans"/>
                <a:sym typeface="Open Sans"/>
              </a:rPr>
              <a:t>FFT Augmentation + Distillation</a:t>
            </a:r>
            <a:endParaRPr b="1" sz="1000">
              <a:solidFill>
                <a:srgbClr val="469CD4"/>
              </a:solidFill>
              <a:latin typeface="Open Sans"/>
              <a:ea typeface="Open Sans"/>
              <a:cs typeface="Open Sans"/>
              <a:sym typeface="Open Sans"/>
            </a:endParaRPr>
          </a:p>
          <a:p>
            <a:pPr indent="-292100" lvl="0" marL="457200" marR="0" rtl="0" algn="l">
              <a:lnSpc>
                <a:spcPct val="100000"/>
              </a:lnSpc>
              <a:spcBef>
                <a:spcPts val="0"/>
              </a:spcBef>
              <a:spcAft>
                <a:spcPts val="0"/>
              </a:spcAft>
              <a:buClr>
                <a:srgbClr val="469CD4"/>
              </a:buClr>
              <a:buSzPts val="1000"/>
              <a:buFont typeface="Open Sans"/>
              <a:buChar char="●"/>
            </a:pPr>
            <a:r>
              <a:rPr lang="en" sz="1000">
                <a:solidFill>
                  <a:srgbClr val="469CD4"/>
                </a:solidFill>
                <a:latin typeface="Open Sans"/>
                <a:ea typeface="Open Sans"/>
                <a:cs typeface="Open Sans"/>
                <a:sym typeface="Open Sans"/>
              </a:rPr>
              <a:t>Give the student explicit access to the frequency content of the preserved band as an extra input channel alongside distillation</a:t>
            </a:r>
            <a:endParaRPr sz="1000">
              <a:solidFill>
                <a:srgbClr val="469CD4"/>
              </a:solidFill>
              <a:latin typeface="Open Sans"/>
              <a:ea typeface="Open Sans"/>
              <a:cs typeface="Open Sans"/>
              <a:sym typeface="Open Sans"/>
            </a:endParaRPr>
          </a:p>
        </p:txBody>
      </p:sp>
      <p:pic>
        <p:nvPicPr>
          <p:cNvPr id="203" name="Google Shape;203;p25"/>
          <p:cNvPicPr preferRelativeResize="0"/>
          <p:nvPr/>
        </p:nvPicPr>
        <p:blipFill rotWithShape="1">
          <a:blip r:embed="rId3">
            <a:alphaModFix/>
          </a:blip>
          <a:srcRect b="15011" l="0" r="0" t="9288"/>
          <a:stretch/>
        </p:blipFill>
        <p:spPr>
          <a:xfrm>
            <a:off x="4412662" y="1144273"/>
            <a:ext cx="4533700" cy="2288000"/>
          </a:xfrm>
          <a:prstGeom prst="rect">
            <a:avLst/>
          </a:prstGeom>
          <a:noFill/>
          <a:ln>
            <a:noFill/>
          </a:ln>
        </p:spPr>
      </p:pic>
      <p:sp>
        <p:nvSpPr>
          <p:cNvPr id="204" name="Google Shape;204;p25"/>
          <p:cNvSpPr txBox="1"/>
          <p:nvPr/>
        </p:nvSpPr>
        <p:spPr>
          <a:xfrm>
            <a:off x="0" y="0"/>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rgbClr val="469CD4"/>
              </a:solidFill>
              <a:latin typeface="Open Sans"/>
              <a:ea typeface="Open Sans"/>
              <a:cs typeface="Open Sans"/>
              <a:sym typeface="Open Sans"/>
            </a:endParaRPr>
          </a:p>
          <a:p>
            <a:pPr indent="0" lvl="0" marL="0" rtl="0" algn="l">
              <a:spcBef>
                <a:spcPts val="0"/>
              </a:spcBef>
              <a:spcAft>
                <a:spcPts val="0"/>
              </a:spcAft>
              <a:buNone/>
            </a:pPr>
            <a:r>
              <a:rPr lang="en" sz="1000">
                <a:solidFill>
                  <a:srgbClr val="469CD4"/>
                </a:solidFill>
                <a:latin typeface="Open Sans"/>
                <a:ea typeface="Open Sans"/>
                <a:cs typeface="Open Sans"/>
                <a:sym typeface="Open Sans"/>
              </a:rPr>
              <a:t>However: A 99.8% accurate teacher provided zero benefit to a low-resolution student. The bottleneck is not in the model. It is in the input.</a:t>
            </a:r>
            <a:endParaRPr sz="1000">
              <a:solidFill>
                <a:srgbClr val="469CD4"/>
              </a:solidFill>
              <a:latin typeface="Open Sans"/>
              <a:ea typeface="Open Sans"/>
              <a:cs typeface="Open Sans"/>
              <a:sym typeface="Open Sans"/>
            </a:endParaRPr>
          </a:p>
        </p:txBody>
      </p:sp>
      <p:sp>
        <p:nvSpPr>
          <p:cNvPr id="205" name="Google Shape;205;p25"/>
          <p:cNvSpPr txBox="1"/>
          <p:nvPr/>
        </p:nvSpPr>
        <p:spPr>
          <a:xfrm>
            <a:off x="4572000" y="4554475"/>
            <a:ext cx="4374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69CD4"/>
                </a:solidFill>
                <a:latin typeface="Open Sans"/>
                <a:ea typeface="Open Sans"/>
                <a:cs typeface="Open Sans"/>
                <a:sym typeface="Open Sans"/>
              </a:rPr>
              <a:t>A 99.8% accurate teacher provided zero benefit. The bottleneck is not in the model. It is in the input.</a:t>
            </a:r>
            <a:endParaRPr/>
          </a:p>
        </p:txBody>
      </p:sp>
      <p:pic>
        <p:nvPicPr>
          <p:cNvPr id="206" name="Google Shape;206;p25"/>
          <p:cNvPicPr preferRelativeResize="0"/>
          <p:nvPr/>
        </p:nvPicPr>
        <p:blipFill rotWithShape="1">
          <a:blip r:embed="rId4">
            <a:alphaModFix/>
          </a:blip>
          <a:srcRect b="13944" l="0" r="0" t="23556"/>
          <a:stretch/>
        </p:blipFill>
        <p:spPr>
          <a:xfrm>
            <a:off x="4515162" y="3432275"/>
            <a:ext cx="4328701" cy="121730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12" name="Google Shape;212;p26"/>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a:t>
            </a:r>
            <a:r>
              <a:rPr b="1" lang="en" sz="3300">
                <a:solidFill>
                  <a:schemeClr val="lt1"/>
                </a:solidFill>
                <a:latin typeface="Open Sans"/>
                <a:ea typeface="Open Sans"/>
                <a:cs typeface="Open Sans"/>
                <a:sym typeface="Open Sans"/>
              </a:rPr>
              <a:t>Curriculum Learning</a:t>
            </a:r>
            <a:endParaRPr b="1" sz="3300">
              <a:solidFill>
                <a:schemeClr val="lt1"/>
              </a:solidFill>
              <a:latin typeface="Open Sans"/>
              <a:ea typeface="Open Sans"/>
              <a:cs typeface="Open Sans"/>
              <a:sym typeface="Open Sans"/>
            </a:endParaRPr>
          </a:p>
        </p:txBody>
      </p:sp>
      <p:sp>
        <p:nvSpPr>
          <p:cNvPr id="213" name="Google Shape;213;p26"/>
          <p:cNvSpPr txBox="1"/>
          <p:nvPr/>
        </p:nvSpPr>
        <p:spPr>
          <a:xfrm>
            <a:off x="139700" y="1169000"/>
            <a:ext cx="8909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Humans learn better when taught from easy to hard. Can a neural network do the same with signal resolution?</a:t>
            </a:r>
            <a:endParaRPr>
              <a:solidFill>
                <a:srgbClr val="469CD4"/>
              </a:solidFill>
              <a:latin typeface="Open Sans"/>
              <a:ea typeface="Open Sans"/>
              <a:cs typeface="Open Sans"/>
              <a:sym typeface="Open Sans"/>
            </a:endParaRPr>
          </a:p>
        </p:txBody>
      </p:sp>
      <p:sp>
        <p:nvSpPr>
          <p:cNvPr id="214" name="Google Shape;214;p26"/>
          <p:cNvSpPr txBox="1"/>
          <p:nvPr/>
        </p:nvSpPr>
        <p:spPr>
          <a:xfrm>
            <a:off x="218275" y="1736325"/>
            <a:ext cx="5175600" cy="22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rgbClr val="469CD4"/>
                </a:solidFill>
                <a:latin typeface="Open Sans"/>
                <a:ea typeface="Open Sans"/>
                <a:cs typeface="Open Sans"/>
                <a:sym typeface="Open Sans"/>
              </a:rPr>
              <a:t>Curriculum Learning: </a:t>
            </a:r>
            <a:r>
              <a:rPr lang="en" sz="1200">
                <a:solidFill>
                  <a:srgbClr val="469CD4"/>
                </a:solidFill>
                <a:latin typeface="Open Sans"/>
                <a:ea typeface="Open Sans"/>
                <a:cs typeface="Open Sans"/>
                <a:sym typeface="Open Sans"/>
              </a:rPr>
              <a:t>A model that first learns what VHT looks like at full resolution (where it is 98.7% classifiable) should retain some of that knowledge as resolution decreases, rather than starting from scratch on the harder problem.</a:t>
            </a:r>
            <a:endParaRPr sz="1200">
              <a:solidFill>
                <a:srgbClr val="469CD4"/>
              </a:solidFill>
              <a:latin typeface="Open Sans"/>
              <a:ea typeface="Open Sans"/>
              <a:cs typeface="Open Sans"/>
              <a:sym typeface="Open Sans"/>
            </a:endParaRPr>
          </a:p>
          <a:p>
            <a:pPr indent="-304800" lvl="0" marL="457200" rtl="0" algn="l">
              <a:lnSpc>
                <a:spcPct val="115000"/>
              </a:lnSpc>
              <a:spcBef>
                <a:spcPts val="120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Progressive resolution: start high-res, gradually introduce low-res</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Anti-curriculum: start with hardest examples first</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Progressive + live distillation: curriculum with teacher guidance throughout</a:t>
            </a:r>
            <a:endParaRPr sz="1200">
              <a:solidFill>
                <a:srgbClr val="469CD4"/>
              </a:solidFill>
              <a:latin typeface="Open Sans"/>
              <a:ea typeface="Open Sans"/>
              <a:cs typeface="Open Sans"/>
              <a:sym typeface="Open Sans"/>
            </a:endParaRPr>
          </a:p>
        </p:txBody>
      </p:sp>
      <p:pic>
        <p:nvPicPr>
          <p:cNvPr id="215" name="Google Shape;215;p26"/>
          <p:cNvPicPr preferRelativeResize="0"/>
          <p:nvPr/>
        </p:nvPicPr>
        <p:blipFill rotWithShape="1">
          <a:blip r:embed="rId3">
            <a:alphaModFix/>
          </a:blip>
          <a:srcRect b="18869" l="0" r="0" t="26563"/>
          <a:stretch/>
        </p:blipFill>
        <p:spPr>
          <a:xfrm>
            <a:off x="724525" y="3644018"/>
            <a:ext cx="7694926" cy="1542300"/>
          </a:xfrm>
          <a:prstGeom prst="rect">
            <a:avLst/>
          </a:prstGeom>
          <a:noFill/>
          <a:ln>
            <a:noFill/>
          </a:ln>
        </p:spPr>
      </p:pic>
      <p:pic>
        <p:nvPicPr>
          <p:cNvPr id="216" name="Google Shape;216;p26"/>
          <p:cNvPicPr preferRelativeResize="0"/>
          <p:nvPr/>
        </p:nvPicPr>
        <p:blipFill rotWithShape="1">
          <a:blip r:embed="rId4">
            <a:alphaModFix/>
          </a:blip>
          <a:srcRect b="0" l="0" r="0" t="5150"/>
          <a:stretch/>
        </p:blipFill>
        <p:spPr>
          <a:xfrm>
            <a:off x="5586575" y="1554975"/>
            <a:ext cx="3387299" cy="21418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nvSpPr>
        <p:spPr>
          <a:xfrm>
            <a:off x="218275" y="1736325"/>
            <a:ext cx="55809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rgbClr val="469CD4"/>
                </a:solidFill>
                <a:latin typeface="Open Sans"/>
                <a:ea typeface="Open Sans"/>
                <a:cs typeface="Open Sans"/>
                <a:sym typeface="Open Sans"/>
              </a:rPr>
              <a:t>Representation</a:t>
            </a:r>
            <a:r>
              <a:rPr b="1" lang="en" sz="1200">
                <a:solidFill>
                  <a:srgbClr val="469CD4"/>
                </a:solidFill>
                <a:latin typeface="Open Sans"/>
                <a:ea typeface="Open Sans"/>
                <a:cs typeface="Open Sans"/>
                <a:sym typeface="Open Sans"/>
              </a:rPr>
              <a:t> Learning: </a:t>
            </a:r>
            <a:r>
              <a:rPr lang="en" sz="1200">
                <a:solidFill>
                  <a:srgbClr val="469CD4"/>
                </a:solidFill>
                <a:latin typeface="Open Sans"/>
                <a:ea typeface="Open Sans"/>
                <a:cs typeface="Open Sans"/>
                <a:sym typeface="Open Sans"/>
              </a:rPr>
              <a:t>If we force the model to build representations that work across both high-res and low-res versions of the same signal it might learn features that survive downsampling.</a:t>
            </a:r>
            <a:endParaRPr sz="1200">
              <a:solidFill>
                <a:srgbClr val="469CD4"/>
              </a:solidFill>
              <a:latin typeface="Open Sans"/>
              <a:ea typeface="Open Sans"/>
              <a:cs typeface="Open Sans"/>
              <a:sym typeface="Open Sans"/>
            </a:endParaRPr>
          </a:p>
          <a:p>
            <a:pPr indent="-304800" lvl="0" marL="457200" rtl="0" algn="l">
              <a:lnSpc>
                <a:spcPct val="115000"/>
              </a:lnSpc>
              <a:spcBef>
                <a:spcPts val="120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Contrastive Learning</a:t>
            </a:r>
            <a:r>
              <a:rPr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Match high-res and low-res embeddings</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Dual-Domain Transformer</a:t>
            </a:r>
            <a:r>
              <a:rPr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Time and frequency processed together</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Frequency-Preserving Compressor:</a:t>
            </a:r>
            <a:r>
              <a:rPr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Amplify surviving discriminative frequencies</a:t>
            </a:r>
            <a:endParaRPr sz="1200">
              <a:solidFill>
                <a:srgbClr val="469CD4"/>
              </a:solidFill>
              <a:latin typeface="Open Sans"/>
              <a:ea typeface="Open Sans"/>
              <a:cs typeface="Open Sans"/>
              <a:sym typeface="Open Sans"/>
            </a:endParaRPr>
          </a:p>
        </p:txBody>
      </p:sp>
      <p:sp>
        <p:nvSpPr>
          <p:cNvPr id="222" name="Google Shape;222;p27"/>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23" name="Google Shape;223;p27"/>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Representation Learning</a:t>
            </a:r>
            <a:endParaRPr b="1" sz="3300">
              <a:solidFill>
                <a:schemeClr val="lt1"/>
              </a:solidFill>
              <a:latin typeface="Open Sans"/>
              <a:ea typeface="Open Sans"/>
              <a:cs typeface="Open Sans"/>
              <a:sym typeface="Open Sans"/>
            </a:endParaRPr>
          </a:p>
        </p:txBody>
      </p:sp>
      <p:sp>
        <p:nvSpPr>
          <p:cNvPr id="224" name="Google Shape;224;p27"/>
          <p:cNvSpPr txBox="1"/>
          <p:nvPr/>
        </p:nvSpPr>
        <p:spPr>
          <a:xfrm>
            <a:off x="139700" y="1169000"/>
            <a:ext cx="8909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Humans learn to recognize things by comparing a dog looks different from a cat, even in bad lighting. Can a neural network learn protocol differences the same way, even in degraded signals?</a:t>
            </a:r>
            <a:endParaRPr>
              <a:solidFill>
                <a:srgbClr val="469CD4"/>
              </a:solidFill>
              <a:latin typeface="Open Sans"/>
              <a:ea typeface="Open Sans"/>
              <a:cs typeface="Open Sans"/>
              <a:sym typeface="Open Sans"/>
            </a:endParaRPr>
          </a:p>
        </p:txBody>
      </p:sp>
      <p:pic>
        <p:nvPicPr>
          <p:cNvPr id="225" name="Google Shape;225;p27"/>
          <p:cNvPicPr preferRelativeResize="0"/>
          <p:nvPr/>
        </p:nvPicPr>
        <p:blipFill rotWithShape="1">
          <a:blip r:embed="rId3">
            <a:alphaModFix/>
          </a:blip>
          <a:srcRect b="19908" l="0" r="0" t="26562"/>
          <a:stretch/>
        </p:blipFill>
        <p:spPr>
          <a:xfrm>
            <a:off x="598850" y="3439011"/>
            <a:ext cx="8225699" cy="1617350"/>
          </a:xfrm>
          <a:prstGeom prst="rect">
            <a:avLst/>
          </a:prstGeom>
          <a:noFill/>
          <a:ln>
            <a:noFill/>
          </a:ln>
        </p:spPr>
      </p:pic>
      <p:pic>
        <p:nvPicPr>
          <p:cNvPr id="226" name="Google Shape;226;p27"/>
          <p:cNvPicPr preferRelativeResize="0"/>
          <p:nvPr/>
        </p:nvPicPr>
        <p:blipFill rotWithShape="1">
          <a:blip r:embed="rId4">
            <a:alphaModFix/>
          </a:blip>
          <a:srcRect b="10496" l="0" r="0" t="10346"/>
          <a:stretch/>
        </p:blipFill>
        <p:spPr>
          <a:xfrm>
            <a:off x="5726096" y="1736325"/>
            <a:ext cx="3226479" cy="17026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nvSpPr>
        <p:spPr>
          <a:xfrm>
            <a:off x="139700" y="1569200"/>
            <a:ext cx="55809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rgbClr val="469CD4"/>
                </a:solidFill>
                <a:latin typeface="Open Sans"/>
                <a:ea typeface="Open Sans"/>
                <a:cs typeface="Open Sans"/>
                <a:sym typeface="Open Sans"/>
              </a:rPr>
              <a:t>Generative</a:t>
            </a:r>
            <a:r>
              <a:rPr b="1" lang="en" sz="1200">
                <a:solidFill>
                  <a:srgbClr val="469CD4"/>
                </a:solidFill>
                <a:latin typeface="Open Sans"/>
                <a:ea typeface="Open Sans"/>
                <a:cs typeface="Open Sans"/>
                <a:sym typeface="Open Sans"/>
              </a:rPr>
              <a:t> Upsampling: </a:t>
            </a:r>
            <a:r>
              <a:rPr lang="en" sz="1200">
                <a:solidFill>
                  <a:srgbClr val="469CD4"/>
                </a:solidFill>
                <a:latin typeface="Open Sans"/>
                <a:ea typeface="Open Sans"/>
                <a:cs typeface="Open Sans"/>
                <a:sym typeface="Open Sans"/>
              </a:rPr>
              <a:t>A generative model trained on real high-res signals might learn to reconstruct plausible high-frequency content from a low-res input, giving the classifier something richer to work with.</a:t>
            </a:r>
            <a:endParaRPr sz="1200">
              <a:solidFill>
                <a:srgbClr val="469CD4"/>
              </a:solidFill>
              <a:latin typeface="Open Sans"/>
              <a:ea typeface="Open Sans"/>
              <a:cs typeface="Open Sans"/>
              <a:sym typeface="Open Sans"/>
            </a:endParaRPr>
          </a:p>
          <a:p>
            <a:pPr indent="-304800" lvl="0" marL="457200" rtl="0" algn="l">
              <a:lnSpc>
                <a:spcPct val="115000"/>
              </a:lnSpc>
              <a:spcBef>
                <a:spcPts val="120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GAN: </a:t>
            </a:r>
            <a:r>
              <a:rPr lang="en" sz="1200">
                <a:solidFill>
                  <a:srgbClr val="469CD4"/>
                </a:solidFill>
                <a:latin typeface="Open Sans"/>
                <a:ea typeface="Open Sans"/>
                <a:cs typeface="Open Sans"/>
                <a:sym typeface="Open Sans"/>
              </a:rPr>
              <a:t>Generate fake high-res signals from low-res input </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Diffusion Model</a:t>
            </a:r>
            <a:r>
              <a:rPr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Reconstruct high-res signal through 200 steps of iterative denoising conditioned on the low-res input</a:t>
            </a:r>
            <a:endParaRPr sz="1200">
              <a:solidFill>
                <a:srgbClr val="469CD4"/>
              </a:solidFill>
              <a:latin typeface="Open Sans"/>
              <a:ea typeface="Open Sans"/>
              <a:cs typeface="Open Sans"/>
              <a:sym typeface="Open Sans"/>
            </a:endParaRPr>
          </a:p>
        </p:txBody>
      </p:sp>
      <p:sp>
        <p:nvSpPr>
          <p:cNvPr id="232" name="Google Shape;232;p28"/>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33" name="Google Shape;233;p28"/>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a:t>
            </a:r>
            <a:r>
              <a:rPr b="1" lang="en" sz="3300">
                <a:solidFill>
                  <a:schemeClr val="lt1"/>
                </a:solidFill>
                <a:latin typeface="Open Sans"/>
                <a:ea typeface="Open Sans"/>
                <a:cs typeface="Open Sans"/>
                <a:sym typeface="Open Sans"/>
              </a:rPr>
              <a:t>Generative Upsampling</a:t>
            </a:r>
            <a:endParaRPr b="1" sz="3300">
              <a:solidFill>
                <a:schemeClr val="lt1"/>
              </a:solidFill>
              <a:latin typeface="Open Sans"/>
              <a:ea typeface="Open Sans"/>
              <a:cs typeface="Open Sans"/>
              <a:sym typeface="Open Sans"/>
            </a:endParaRPr>
          </a:p>
        </p:txBody>
      </p:sp>
      <p:sp>
        <p:nvSpPr>
          <p:cNvPr id="234" name="Google Shape;234;p28"/>
          <p:cNvSpPr txBox="1"/>
          <p:nvPr/>
        </p:nvSpPr>
        <p:spPr>
          <a:xfrm>
            <a:off x="139700" y="1169000"/>
            <a:ext cx="89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If the high-frequency content is gone, what if we generate it?</a:t>
            </a:r>
            <a:endParaRPr>
              <a:solidFill>
                <a:srgbClr val="469CD4"/>
              </a:solidFill>
              <a:latin typeface="Open Sans"/>
              <a:ea typeface="Open Sans"/>
              <a:cs typeface="Open Sans"/>
              <a:sym typeface="Open Sans"/>
            </a:endParaRPr>
          </a:p>
        </p:txBody>
      </p:sp>
      <p:pic>
        <p:nvPicPr>
          <p:cNvPr id="235" name="Google Shape;235;p28"/>
          <p:cNvPicPr preferRelativeResize="0"/>
          <p:nvPr/>
        </p:nvPicPr>
        <p:blipFill rotWithShape="1">
          <a:blip r:embed="rId3">
            <a:alphaModFix/>
          </a:blip>
          <a:srcRect b="10496" l="0" r="0" t="10346"/>
          <a:stretch/>
        </p:blipFill>
        <p:spPr>
          <a:xfrm>
            <a:off x="5726096" y="1736325"/>
            <a:ext cx="3226479" cy="1702674"/>
          </a:xfrm>
          <a:prstGeom prst="rect">
            <a:avLst/>
          </a:prstGeom>
          <a:noFill/>
          <a:ln>
            <a:noFill/>
          </a:ln>
        </p:spPr>
      </p:pic>
      <p:pic>
        <p:nvPicPr>
          <p:cNvPr id="236" name="Google Shape;236;p28"/>
          <p:cNvPicPr preferRelativeResize="0"/>
          <p:nvPr/>
        </p:nvPicPr>
        <p:blipFill rotWithShape="1">
          <a:blip r:embed="rId4">
            <a:alphaModFix/>
          </a:blip>
          <a:srcRect b="20645" l="0" r="0" t="31377"/>
          <a:stretch/>
        </p:blipFill>
        <p:spPr>
          <a:xfrm>
            <a:off x="0" y="3654700"/>
            <a:ext cx="9144001" cy="141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nvSpPr>
        <p:spPr>
          <a:xfrm>
            <a:off x="139700" y="1569200"/>
            <a:ext cx="50811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rgbClr val="469CD4"/>
                </a:solidFill>
                <a:latin typeface="Open Sans"/>
                <a:ea typeface="Open Sans"/>
                <a:cs typeface="Open Sans"/>
                <a:sym typeface="Open Sans"/>
              </a:rPr>
              <a:t>Generative Upsampling: </a:t>
            </a:r>
            <a:r>
              <a:rPr lang="en" sz="1200">
                <a:solidFill>
                  <a:srgbClr val="469CD4"/>
                </a:solidFill>
                <a:latin typeface="Open Sans"/>
                <a:ea typeface="Open Sans"/>
                <a:cs typeface="Open Sans"/>
                <a:sym typeface="Open Sans"/>
              </a:rPr>
              <a:t>A generative model trained on real high-res signals might learn to reconstruct plausible high-frequency content from a low-res input, giving the classifier something richer to work with.</a:t>
            </a:r>
            <a:endParaRPr sz="1200">
              <a:solidFill>
                <a:srgbClr val="469CD4"/>
              </a:solidFill>
              <a:latin typeface="Open Sans"/>
              <a:ea typeface="Open Sans"/>
              <a:cs typeface="Open Sans"/>
              <a:sym typeface="Open Sans"/>
            </a:endParaRPr>
          </a:p>
          <a:p>
            <a:pPr indent="-304800" lvl="0" marL="457200" rtl="0" algn="l">
              <a:lnSpc>
                <a:spcPct val="115000"/>
              </a:lnSpc>
              <a:spcBef>
                <a:spcPts val="120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GAN: Generate fake high-res signals from low-res input </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Diffusion Model: Reconstruct high-res signal through 200 steps of iterative denoising conditioned on the low-res input</a:t>
            </a:r>
            <a:endParaRPr sz="1200">
              <a:solidFill>
                <a:srgbClr val="469CD4"/>
              </a:solidFill>
              <a:latin typeface="Open Sans"/>
              <a:ea typeface="Open Sans"/>
              <a:cs typeface="Open Sans"/>
              <a:sym typeface="Open Sans"/>
            </a:endParaRPr>
          </a:p>
        </p:txBody>
      </p:sp>
      <p:sp>
        <p:nvSpPr>
          <p:cNvPr id="242" name="Google Shape;242;p29"/>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43" name="Google Shape;243;p29"/>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Generative Upsampling</a:t>
            </a:r>
            <a:endParaRPr b="1" sz="3300">
              <a:solidFill>
                <a:schemeClr val="lt1"/>
              </a:solidFill>
              <a:latin typeface="Open Sans"/>
              <a:ea typeface="Open Sans"/>
              <a:cs typeface="Open Sans"/>
              <a:sym typeface="Open Sans"/>
            </a:endParaRPr>
          </a:p>
        </p:txBody>
      </p:sp>
      <p:sp>
        <p:nvSpPr>
          <p:cNvPr id="244" name="Google Shape;244;p29"/>
          <p:cNvSpPr txBox="1"/>
          <p:nvPr/>
        </p:nvSpPr>
        <p:spPr>
          <a:xfrm>
            <a:off x="139700" y="1169000"/>
            <a:ext cx="89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If the high-frequency content is gone, what if we generate it?</a:t>
            </a:r>
            <a:endParaRPr>
              <a:solidFill>
                <a:srgbClr val="469CD4"/>
              </a:solidFill>
              <a:latin typeface="Open Sans"/>
              <a:ea typeface="Open Sans"/>
              <a:cs typeface="Open Sans"/>
              <a:sym typeface="Open Sans"/>
            </a:endParaRPr>
          </a:p>
        </p:txBody>
      </p:sp>
      <p:pic>
        <p:nvPicPr>
          <p:cNvPr id="245" name="Google Shape;245;p29"/>
          <p:cNvPicPr preferRelativeResize="0"/>
          <p:nvPr/>
        </p:nvPicPr>
        <p:blipFill rotWithShape="1">
          <a:blip r:embed="rId3">
            <a:alphaModFix/>
          </a:blip>
          <a:srcRect b="20645" l="0" r="0" t="31377"/>
          <a:stretch/>
        </p:blipFill>
        <p:spPr>
          <a:xfrm>
            <a:off x="0" y="3654700"/>
            <a:ext cx="9144001" cy="1414000"/>
          </a:xfrm>
          <a:prstGeom prst="rect">
            <a:avLst/>
          </a:prstGeom>
          <a:noFill/>
          <a:ln>
            <a:noFill/>
          </a:ln>
        </p:spPr>
      </p:pic>
      <p:pic>
        <p:nvPicPr>
          <p:cNvPr id="246" name="Google Shape;246;p29"/>
          <p:cNvPicPr preferRelativeResize="0"/>
          <p:nvPr/>
        </p:nvPicPr>
        <p:blipFill rotWithShape="1">
          <a:blip r:embed="rId4">
            <a:alphaModFix/>
          </a:blip>
          <a:srcRect b="15797" l="0" r="0" t="10522"/>
          <a:stretch/>
        </p:blipFill>
        <p:spPr>
          <a:xfrm>
            <a:off x="5270444" y="1483500"/>
            <a:ext cx="3828177" cy="18803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nvSpPr>
        <p:spPr>
          <a:xfrm>
            <a:off x="139700" y="1678780"/>
            <a:ext cx="50811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rgbClr val="469CD4"/>
                </a:solidFill>
                <a:latin typeface="Open Sans"/>
                <a:ea typeface="Open Sans"/>
                <a:cs typeface="Open Sans"/>
                <a:sym typeface="Open Sans"/>
              </a:rPr>
              <a:t>Spectral Preprocessing</a:t>
            </a:r>
            <a:r>
              <a:rPr b="1"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Downsampling introduces noise and distortion in the preserved 0 to 0.625 MHz band. Cleaning that band before classification might expose structure the model cannot currently see.</a:t>
            </a:r>
            <a:endParaRPr sz="1200">
              <a:solidFill>
                <a:srgbClr val="469CD4"/>
              </a:solidFill>
              <a:latin typeface="Open Sans"/>
              <a:ea typeface="Open Sans"/>
              <a:cs typeface="Open Sans"/>
              <a:sym typeface="Open Sans"/>
            </a:endParaRPr>
          </a:p>
          <a:p>
            <a:pPr indent="-304800" lvl="0" marL="457200" rtl="0" algn="l">
              <a:lnSpc>
                <a:spcPct val="115000"/>
              </a:lnSpc>
              <a:spcBef>
                <a:spcPts val="120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Kalman FIlter</a:t>
            </a:r>
            <a:r>
              <a:rPr lang="en" sz="1200">
                <a:solidFill>
                  <a:srgbClr val="469CD4"/>
                </a:solidFill>
                <a:latin typeface="Open Sans"/>
                <a:ea typeface="Open Sans"/>
                <a:cs typeface="Open Sans"/>
                <a:sym typeface="Open Sans"/>
              </a:rPr>
              <a:t>: Smooth I and Q channels recursively</a:t>
            </a:r>
            <a:endParaRPr sz="1200">
              <a:solidFill>
                <a:srgbClr val="469CD4"/>
              </a:solidFill>
              <a:latin typeface="Open Sans"/>
              <a:ea typeface="Open Sans"/>
              <a:cs typeface="Open Sans"/>
              <a:sym typeface="Open Sans"/>
            </a:endParaRPr>
          </a:p>
          <a:p>
            <a:pPr indent="-304800" lvl="0" marL="457200" rtl="0" algn="l">
              <a:lnSpc>
                <a:spcPct val="115000"/>
              </a:lnSpc>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Wavelet Denoising</a:t>
            </a:r>
            <a:r>
              <a:rPr lang="en" sz="1200">
                <a:solidFill>
                  <a:srgbClr val="469CD4"/>
                </a:solidFill>
                <a:latin typeface="Open Sans"/>
                <a:ea typeface="Open Sans"/>
                <a:cs typeface="Open Sans"/>
                <a:sym typeface="Open Sans"/>
              </a:rPr>
              <a:t>: </a:t>
            </a:r>
            <a:r>
              <a:rPr lang="en" sz="1200">
                <a:solidFill>
                  <a:srgbClr val="469CD4"/>
                </a:solidFill>
                <a:latin typeface="Open Sans"/>
                <a:ea typeface="Open Sans"/>
                <a:cs typeface="Open Sans"/>
                <a:sym typeface="Open Sans"/>
              </a:rPr>
              <a:t>Threshold wavelet coefficients, reconstruct cleaner signal</a:t>
            </a:r>
            <a:endParaRPr sz="1200">
              <a:solidFill>
                <a:srgbClr val="469CD4"/>
              </a:solidFill>
              <a:latin typeface="Open Sans"/>
              <a:ea typeface="Open Sans"/>
              <a:cs typeface="Open Sans"/>
              <a:sym typeface="Open Sans"/>
            </a:endParaRPr>
          </a:p>
        </p:txBody>
      </p:sp>
      <p:sp>
        <p:nvSpPr>
          <p:cNvPr id="252" name="Google Shape;252;p30"/>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53" name="Google Shape;253;p30"/>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3: </a:t>
            </a:r>
            <a:r>
              <a:rPr b="1" lang="en" sz="3300">
                <a:solidFill>
                  <a:schemeClr val="lt1"/>
                </a:solidFill>
                <a:latin typeface="Open Sans"/>
                <a:ea typeface="Open Sans"/>
                <a:cs typeface="Open Sans"/>
                <a:sym typeface="Open Sans"/>
              </a:rPr>
              <a:t>Spectral Preprocessing</a:t>
            </a:r>
            <a:endParaRPr b="1" sz="3300">
              <a:solidFill>
                <a:schemeClr val="lt1"/>
              </a:solidFill>
              <a:latin typeface="Open Sans"/>
              <a:ea typeface="Open Sans"/>
              <a:cs typeface="Open Sans"/>
              <a:sym typeface="Open Sans"/>
            </a:endParaRPr>
          </a:p>
        </p:txBody>
      </p:sp>
      <p:sp>
        <p:nvSpPr>
          <p:cNvPr id="254" name="Google Shape;254;p30"/>
          <p:cNvSpPr txBox="1"/>
          <p:nvPr/>
        </p:nvSpPr>
        <p:spPr>
          <a:xfrm>
            <a:off x="139700" y="1169000"/>
            <a:ext cx="8909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method so far tried to recover what was lost or transfer knowledge from better data. What if we just clean up what actually survived?</a:t>
            </a:r>
            <a:endParaRPr>
              <a:solidFill>
                <a:srgbClr val="469CD4"/>
              </a:solidFill>
              <a:latin typeface="Open Sans"/>
              <a:ea typeface="Open Sans"/>
              <a:cs typeface="Open Sans"/>
              <a:sym typeface="Open Sans"/>
            </a:endParaRPr>
          </a:p>
        </p:txBody>
      </p:sp>
      <p:pic>
        <p:nvPicPr>
          <p:cNvPr id="255" name="Google Shape;255;p30"/>
          <p:cNvPicPr preferRelativeResize="0"/>
          <p:nvPr/>
        </p:nvPicPr>
        <p:blipFill rotWithShape="1">
          <a:blip r:embed="rId3">
            <a:alphaModFix/>
          </a:blip>
          <a:srcRect b="21012" l="0" r="0" t="30269"/>
          <a:stretch/>
        </p:blipFill>
        <p:spPr>
          <a:xfrm>
            <a:off x="0" y="3707650"/>
            <a:ext cx="9144001" cy="1435850"/>
          </a:xfrm>
          <a:prstGeom prst="rect">
            <a:avLst/>
          </a:prstGeom>
          <a:noFill/>
          <a:ln>
            <a:noFill/>
          </a:ln>
        </p:spPr>
      </p:pic>
      <p:pic>
        <p:nvPicPr>
          <p:cNvPr id="256" name="Google Shape;256;p30"/>
          <p:cNvPicPr preferRelativeResize="0"/>
          <p:nvPr/>
        </p:nvPicPr>
        <p:blipFill rotWithShape="1">
          <a:blip r:embed="rId4">
            <a:alphaModFix/>
          </a:blip>
          <a:srcRect b="14178" l="0" r="0" t="9058"/>
          <a:stretch/>
        </p:blipFill>
        <p:spPr>
          <a:xfrm>
            <a:off x="5220800" y="1777510"/>
            <a:ext cx="3740661" cy="14358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1"/>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62" name="Google Shape;262;p31"/>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4: All approach same ceiling</a:t>
            </a:r>
            <a:endParaRPr b="1" sz="3300">
              <a:solidFill>
                <a:schemeClr val="lt1"/>
              </a:solidFill>
              <a:latin typeface="Open Sans"/>
              <a:ea typeface="Open Sans"/>
              <a:cs typeface="Open Sans"/>
              <a:sym typeface="Open Sans"/>
            </a:endParaRPr>
          </a:p>
        </p:txBody>
      </p:sp>
      <p:sp>
        <p:nvSpPr>
          <p:cNvPr id="263" name="Google Shape;263;p31"/>
          <p:cNvSpPr txBox="1"/>
          <p:nvPr/>
        </p:nvSpPr>
        <p:spPr>
          <a:xfrm>
            <a:off x="91200" y="1124775"/>
            <a:ext cx="867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single method we tried hit the same wall.</a:t>
            </a:r>
            <a:endParaRPr>
              <a:solidFill>
                <a:srgbClr val="469CD4"/>
              </a:solidFill>
              <a:latin typeface="Open Sans"/>
              <a:ea typeface="Open Sans"/>
              <a:cs typeface="Open Sans"/>
              <a:sym typeface="Open Sans"/>
            </a:endParaRPr>
          </a:p>
        </p:txBody>
      </p:sp>
      <p:pic>
        <p:nvPicPr>
          <p:cNvPr id="264" name="Google Shape;264;p31"/>
          <p:cNvPicPr preferRelativeResize="0"/>
          <p:nvPr/>
        </p:nvPicPr>
        <p:blipFill rotWithShape="1">
          <a:blip r:embed="rId3">
            <a:alphaModFix/>
          </a:blip>
          <a:srcRect b="8319" l="0" r="0" t="20819"/>
          <a:stretch/>
        </p:blipFill>
        <p:spPr>
          <a:xfrm>
            <a:off x="812975" y="1468392"/>
            <a:ext cx="7702925" cy="2743100"/>
          </a:xfrm>
          <a:prstGeom prst="rect">
            <a:avLst/>
          </a:prstGeom>
          <a:noFill/>
          <a:ln>
            <a:noFill/>
          </a:ln>
        </p:spPr>
      </p:pic>
      <p:sp>
        <p:nvSpPr>
          <p:cNvPr id="265" name="Google Shape;265;p31"/>
          <p:cNvSpPr txBox="1"/>
          <p:nvPr/>
        </p:nvSpPr>
        <p:spPr>
          <a:xfrm>
            <a:off x="139700" y="4392450"/>
            <a:ext cx="361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method that changed the model, the training, or the data failed.</a:t>
            </a:r>
            <a:endParaRPr/>
          </a:p>
        </p:txBody>
      </p:sp>
      <p:sp>
        <p:nvSpPr>
          <p:cNvPr id="266" name="Google Shape;266;p31"/>
          <p:cNvSpPr txBox="1"/>
          <p:nvPr/>
        </p:nvSpPr>
        <p:spPr>
          <a:xfrm>
            <a:off x="160082" y="4129908"/>
            <a:ext cx="361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Theory</a:t>
            </a:r>
            <a:endParaRPr b="1"/>
          </a:p>
        </p:txBody>
      </p:sp>
      <p:cxnSp>
        <p:nvCxnSpPr>
          <p:cNvPr id="267" name="Google Shape;267;p31"/>
          <p:cNvCxnSpPr/>
          <p:nvPr/>
        </p:nvCxnSpPr>
        <p:spPr>
          <a:xfrm>
            <a:off x="3513859" y="4700250"/>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268" name="Google Shape;268;p31"/>
          <p:cNvSpPr txBox="1"/>
          <p:nvPr/>
        </p:nvSpPr>
        <p:spPr>
          <a:xfrm>
            <a:off x="3843848" y="4392456"/>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None of them changed how the signal was represented.</a:t>
            </a:r>
            <a:endParaRPr/>
          </a:p>
        </p:txBody>
      </p:sp>
      <p:cxnSp>
        <p:nvCxnSpPr>
          <p:cNvPr id="269" name="Google Shape;269;p31"/>
          <p:cNvCxnSpPr/>
          <p:nvPr/>
        </p:nvCxnSpPr>
        <p:spPr>
          <a:xfrm>
            <a:off x="6631361" y="4700250"/>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270" name="Google Shape;270;p31"/>
          <p:cNvSpPr txBox="1"/>
          <p:nvPr/>
        </p:nvSpPr>
        <p:spPr>
          <a:xfrm>
            <a:off x="6961350" y="4284600"/>
            <a:ext cx="218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The bottleneck is not architectural. It is representational.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76" name="Google Shape;276;p32"/>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4: All approach same ceiling</a:t>
            </a:r>
            <a:endParaRPr b="1" sz="3300">
              <a:solidFill>
                <a:schemeClr val="lt1"/>
              </a:solidFill>
              <a:latin typeface="Open Sans"/>
              <a:ea typeface="Open Sans"/>
              <a:cs typeface="Open Sans"/>
              <a:sym typeface="Open Sans"/>
            </a:endParaRPr>
          </a:p>
        </p:txBody>
      </p:sp>
      <p:sp>
        <p:nvSpPr>
          <p:cNvPr id="277" name="Google Shape;277;p32"/>
          <p:cNvSpPr txBox="1"/>
          <p:nvPr/>
        </p:nvSpPr>
        <p:spPr>
          <a:xfrm>
            <a:off x="91200" y="1124775"/>
            <a:ext cx="867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single method we tried hit the same wall.</a:t>
            </a:r>
            <a:endParaRPr>
              <a:solidFill>
                <a:srgbClr val="469CD4"/>
              </a:solidFill>
              <a:latin typeface="Open Sans"/>
              <a:ea typeface="Open Sans"/>
              <a:cs typeface="Open Sans"/>
              <a:sym typeface="Open Sans"/>
            </a:endParaRPr>
          </a:p>
        </p:txBody>
      </p:sp>
      <p:pic>
        <p:nvPicPr>
          <p:cNvPr id="278" name="Google Shape;278;p32"/>
          <p:cNvPicPr preferRelativeResize="0"/>
          <p:nvPr/>
        </p:nvPicPr>
        <p:blipFill rotWithShape="1">
          <a:blip r:embed="rId3">
            <a:alphaModFix/>
          </a:blip>
          <a:srcRect b="8319" l="0" r="0" t="20819"/>
          <a:stretch/>
        </p:blipFill>
        <p:spPr>
          <a:xfrm>
            <a:off x="812975" y="1468392"/>
            <a:ext cx="7702925" cy="2743100"/>
          </a:xfrm>
          <a:prstGeom prst="rect">
            <a:avLst/>
          </a:prstGeom>
          <a:noFill/>
          <a:ln>
            <a:noFill/>
          </a:ln>
        </p:spPr>
      </p:pic>
      <p:sp>
        <p:nvSpPr>
          <p:cNvPr id="279" name="Google Shape;279;p32"/>
          <p:cNvSpPr txBox="1"/>
          <p:nvPr/>
        </p:nvSpPr>
        <p:spPr>
          <a:xfrm>
            <a:off x="139700" y="4392450"/>
            <a:ext cx="361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method that changed the model, the training, or the data failed.</a:t>
            </a:r>
            <a:endParaRPr/>
          </a:p>
        </p:txBody>
      </p:sp>
      <p:sp>
        <p:nvSpPr>
          <p:cNvPr id="280" name="Google Shape;280;p32"/>
          <p:cNvSpPr txBox="1"/>
          <p:nvPr/>
        </p:nvSpPr>
        <p:spPr>
          <a:xfrm>
            <a:off x="160082" y="4129908"/>
            <a:ext cx="361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Theory</a:t>
            </a:r>
            <a:endParaRPr b="1"/>
          </a:p>
        </p:txBody>
      </p:sp>
      <p:cxnSp>
        <p:nvCxnSpPr>
          <p:cNvPr id="281" name="Google Shape;281;p32"/>
          <p:cNvCxnSpPr/>
          <p:nvPr/>
        </p:nvCxnSpPr>
        <p:spPr>
          <a:xfrm>
            <a:off x="3513859" y="4700250"/>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282" name="Google Shape;282;p32"/>
          <p:cNvSpPr txBox="1"/>
          <p:nvPr/>
        </p:nvSpPr>
        <p:spPr>
          <a:xfrm>
            <a:off x="3843848" y="4392456"/>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None of them changed how the signal was represented.</a:t>
            </a:r>
            <a:endParaRPr/>
          </a:p>
        </p:txBody>
      </p:sp>
      <p:cxnSp>
        <p:nvCxnSpPr>
          <p:cNvPr id="283" name="Google Shape;283;p32"/>
          <p:cNvCxnSpPr/>
          <p:nvPr/>
        </p:nvCxnSpPr>
        <p:spPr>
          <a:xfrm>
            <a:off x="6631361" y="4700250"/>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284" name="Google Shape;284;p32"/>
          <p:cNvSpPr txBox="1"/>
          <p:nvPr/>
        </p:nvSpPr>
        <p:spPr>
          <a:xfrm>
            <a:off x="6961350" y="4284600"/>
            <a:ext cx="218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The bottleneck is not architectural. It is representational.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3"/>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90" name="Google Shape;290;p33"/>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5: </a:t>
            </a:r>
            <a:r>
              <a:rPr b="1" lang="en" sz="3300">
                <a:solidFill>
                  <a:schemeClr val="lt1"/>
                </a:solidFill>
                <a:latin typeface="Open Sans"/>
                <a:ea typeface="Open Sans"/>
                <a:cs typeface="Open Sans"/>
                <a:sym typeface="Open Sans"/>
              </a:rPr>
              <a:t>The Breakthrough - STFT</a:t>
            </a:r>
            <a:endParaRPr b="1" sz="3300">
              <a:solidFill>
                <a:schemeClr val="lt1"/>
              </a:solidFill>
              <a:latin typeface="Open Sans"/>
              <a:ea typeface="Open Sans"/>
              <a:cs typeface="Open Sans"/>
              <a:sym typeface="Open Sans"/>
            </a:endParaRPr>
          </a:p>
        </p:txBody>
      </p:sp>
      <p:sp>
        <p:nvSpPr>
          <p:cNvPr id="291" name="Google Shape;291;p33"/>
          <p:cNvSpPr txBox="1"/>
          <p:nvPr/>
        </p:nvSpPr>
        <p:spPr>
          <a:xfrm>
            <a:off x="91200" y="1124775"/>
            <a:ext cx="867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What if instead of feeding the model raw numbers, we fed it a picture of the frequency content?</a:t>
            </a:r>
            <a:endParaRPr>
              <a:solidFill>
                <a:srgbClr val="469CD4"/>
              </a:solidFill>
              <a:latin typeface="Open Sans"/>
              <a:ea typeface="Open Sans"/>
              <a:cs typeface="Open Sans"/>
              <a:sym typeface="Open Sans"/>
            </a:endParaRPr>
          </a:p>
        </p:txBody>
      </p:sp>
      <p:pic>
        <p:nvPicPr>
          <p:cNvPr id="292" name="Google Shape;292;p33"/>
          <p:cNvPicPr preferRelativeResize="0"/>
          <p:nvPr/>
        </p:nvPicPr>
        <p:blipFill rotWithShape="1">
          <a:blip r:embed="rId3">
            <a:alphaModFix/>
          </a:blip>
          <a:srcRect b="21266" l="0" r="0" t="0"/>
          <a:stretch/>
        </p:blipFill>
        <p:spPr>
          <a:xfrm>
            <a:off x="3962400" y="1524975"/>
            <a:ext cx="4970600" cy="2609075"/>
          </a:xfrm>
          <a:prstGeom prst="rect">
            <a:avLst/>
          </a:prstGeom>
          <a:noFill/>
          <a:ln>
            <a:noFill/>
          </a:ln>
        </p:spPr>
      </p:pic>
      <p:sp>
        <p:nvSpPr>
          <p:cNvPr id="293" name="Google Shape;293;p33"/>
          <p:cNvSpPr txBox="1"/>
          <p:nvPr/>
        </p:nvSpPr>
        <p:spPr>
          <a:xfrm>
            <a:off x="118766" y="1475880"/>
            <a:ext cx="3680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69CD4"/>
                </a:solidFill>
                <a:latin typeface="Open Sans"/>
                <a:ea typeface="Open Sans"/>
                <a:cs typeface="Open Sans"/>
                <a:sym typeface="Open Sans"/>
              </a:rPr>
              <a:t>Slides a window along the signal, computes FFT at each position, stacks the results into a 2D image.</a:t>
            </a:r>
            <a:endParaRPr sz="1200">
              <a:solidFill>
                <a:srgbClr val="469CD4"/>
              </a:solidFill>
              <a:latin typeface="Open Sans"/>
              <a:ea typeface="Open Sans"/>
              <a:cs typeface="Open Sans"/>
              <a:sym typeface="Open Sans"/>
            </a:endParaRPr>
          </a:p>
        </p:txBody>
      </p:sp>
      <p:pic>
        <p:nvPicPr>
          <p:cNvPr id="294" name="Google Shape;294;p33"/>
          <p:cNvPicPr preferRelativeResize="0"/>
          <p:nvPr/>
        </p:nvPicPr>
        <p:blipFill>
          <a:blip r:embed="rId4">
            <a:alphaModFix/>
          </a:blip>
          <a:stretch>
            <a:fillRect/>
          </a:stretch>
        </p:blipFill>
        <p:spPr>
          <a:xfrm>
            <a:off x="135588" y="2214775"/>
            <a:ext cx="3647074" cy="305991"/>
          </a:xfrm>
          <a:prstGeom prst="rect">
            <a:avLst/>
          </a:prstGeom>
          <a:noFill/>
          <a:ln>
            <a:noFill/>
          </a:ln>
        </p:spPr>
      </p:pic>
      <p:pic>
        <p:nvPicPr>
          <p:cNvPr id="295" name="Google Shape;295;p33"/>
          <p:cNvPicPr preferRelativeResize="0"/>
          <p:nvPr/>
        </p:nvPicPr>
        <p:blipFill>
          <a:blip r:embed="rId5">
            <a:alphaModFix/>
          </a:blip>
          <a:stretch>
            <a:fillRect/>
          </a:stretch>
        </p:blipFill>
        <p:spPr>
          <a:xfrm>
            <a:off x="1184875" y="2520775"/>
            <a:ext cx="2597775" cy="218925"/>
          </a:xfrm>
          <a:prstGeom prst="rect">
            <a:avLst/>
          </a:prstGeom>
          <a:noFill/>
          <a:ln>
            <a:noFill/>
          </a:ln>
        </p:spPr>
      </p:pic>
      <p:sp>
        <p:nvSpPr>
          <p:cNvPr id="296" name="Google Shape;296;p33"/>
          <p:cNvSpPr txBox="1"/>
          <p:nvPr/>
        </p:nvSpPr>
        <p:spPr>
          <a:xfrm>
            <a:off x="139700" y="2871950"/>
            <a:ext cx="3822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69CD4"/>
                </a:solidFill>
                <a:latin typeface="Open Sans"/>
                <a:ea typeface="Open Sans"/>
                <a:cs typeface="Open Sans"/>
                <a:sym typeface="Open Sans"/>
              </a:rPr>
              <a:t>STFT does not add information: it reorganizes it into a form where the frequency differences between protocols become directly visible to the model.</a:t>
            </a:r>
            <a:endParaRPr/>
          </a:p>
        </p:txBody>
      </p:sp>
      <p:pic>
        <p:nvPicPr>
          <p:cNvPr id="297" name="Google Shape;297;p33"/>
          <p:cNvPicPr preferRelativeResize="0"/>
          <p:nvPr/>
        </p:nvPicPr>
        <p:blipFill rotWithShape="1">
          <a:blip r:embed="rId6">
            <a:alphaModFix/>
          </a:blip>
          <a:srcRect b="18581" l="0" r="0" t="27374"/>
          <a:stretch/>
        </p:blipFill>
        <p:spPr>
          <a:xfrm>
            <a:off x="135600" y="3967705"/>
            <a:ext cx="4970600" cy="1086557"/>
          </a:xfrm>
          <a:prstGeom prst="rect">
            <a:avLst/>
          </a:prstGeom>
          <a:noFill/>
          <a:ln>
            <a:noFill/>
          </a:ln>
        </p:spPr>
      </p:pic>
      <p:sp>
        <p:nvSpPr>
          <p:cNvPr id="298" name="Google Shape;298;p33"/>
          <p:cNvSpPr txBox="1"/>
          <p:nvPr/>
        </p:nvSpPr>
        <p:spPr>
          <a:xfrm>
            <a:off x="5110400" y="4134050"/>
            <a:ext cx="3822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69CD4"/>
                </a:solidFill>
                <a:latin typeface="Open Sans"/>
                <a:ea typeface="Open Sans"/>
                <a:cs typeface="Open Sans"/>
                <a:sym typeface="Open Sans"/>
              </a:rPr>
              <a:t>Two classes improved, overall accuracy was the best ever seen: the representation was right. Only the resolution was wrong. That was worth investigating.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4"/>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04" name="Google Shape;304;p34"/>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5: All approach same ceiling</a:t>
            </a:r>
            <a:endParaRPr b="1" sz="3300">
              <a:solidFill>
                <a:schemeClr val="lt1"/>
              </a:solidFill>
              <a:latin typeface="Open Sans"/>
              <a:ea typeface="Open Sans"/>
              <a:cs typeface="Open Sans"/>
              <a:sym typeface="Open Sans"/>
            </a:endParaRPr>
          </a:p>
        </p:txBody>
      </p:sp>
      <p:sp>
        <p:nvSpPr>
          <p:cNvPr id="305" name="Google Shape;305;p34"/>
          <p:cNvSpPr txBox="1"/>
          <p:nvPr/>
        </p:nvSpPr>
        <p:spPr>
          <a:xfrm>
            <a:off x="69925" y="1469257"/>
            <a:ext cx="361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Every method that changed the model, the training, or the data failed.</a:t>
            </a:r>
            <a:endParaRPr/>
          </a:p>
        </p:txBody>
      </p:sp>
      <p:sp>
        <p:nvSpPr>
          <p:cNvPr id="306" name="Google Shape;306;p34"/>
          <p:cNvSpPr txBox="1"/>
          <p:nvPr/>
        </p:nvSpPr>
        <p:spPr>
          <a:xfrm>
            <a:off x="139707" y="1146558"/>
            <a:ext cx="361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Theory</a:t>
            </a:r>
            <a:endParaRPr b="1"/>
          </a:p>
        </p:txBody>
      </p:sp>
      <p:cxnSp>
        <p:nvCxnSpPr>
          <p:cNvPr id="307" name="Google Shape;307;p34"/>
          <p:cNvCxnSpPr/>
          <p:nvPr/>
        </p:nvCxnSpPr>
        <p:spPr>
          <a:xfrm>
            <a:off x="3444084" y="1777057"/>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308" name="Google Shape;308;p34"/>
          <p:cNvSpPr txBox="1"/>
          <p:nvPr/>
        </p:nvSpPr>
        <p:spPr>
          <a:xfrm>
            <a:off x="3774073" y="1469262"/>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None of them changed how the signal was represented.</a:t>
            </a:r>
            <a:endParaRPr/>
          </a:p>
        </p:txBody>
      </p:sp>
      <p:cxnSp>
        <p:nvCxnSpPr>
          <p:cNvPr id="309" name="Google Shape;309;p34"/>
          <p:cNvCxnSpPr/>
          <p:nvPr/>
        </p:nvCxnSpPr>
        <p:spPr>
          <a:xfrm>
            <a:off x="6561586" y="1777057"/>
            <a:ext cx="330000" cy="5700"/>
          </a:xfrm>
          <a:prstGeom prst="straightConnector1">
            <a:avLst/>
          </a:prstGeom>
          <a:noFill/>
          <a:ln cap="flat" cmpd="sng" w="9525">
            <a:solidFill>
              <a:schemeClr val="dk2"/>
            </a:solidFill>
            <a:prstDash val="solid"/>
            <a:round/>
            <a:headEnd len="med" w="med" type="none"/>
            <a:tailEnd len="med" w="med" type="triangle"/>
          </a:ln>
        </p:spPr>
      </p:cxnSp>
      <p:sp>
        <p:nvSpPr>
          <p:cNvPr id="310" name="Google Shape;310;p34"/>
          <p:cNvSpPr txBox="1"/>
          <p:nvPr/>
        </p:nvSpPr>
        <p:spPr>
          <a:xfrm>
            <a:off x="6891575" y="1361407"/>
            <a:ext cx="218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The bottleneck is not architectural. It is representational.</a:t>
            </a:r>
            <a:endParaRPr/>
          </a:p>
        </p:txBody>
      </p:sp>
      <p:sp>
        <p:nvSpPr>
          <p:cNvPr id="311" name="Google Shape;311;p34"/>
          <p:cNvSpPr txBox="1"/>
          <p:nvPr/>
        </p:nvSpPr>
        <p:spPr>
          <a:xfrm>
            <a:off x="139700" y="2142575"/>
            <a:ext cx="2676300" cy="296400"/>
          </a:xfrm>
          <a:prstGeom prst="rect">
            <a:avLst/>
          </a:prstGeom>
          <a:noFill/>
          <a:ln>
            <a:noFill/>
          </a:ln>
        </p:spPr>
        <p:txBody>
          <a:bodyPr anchorCtr="0" anchor="t" bIns="67700" lIns="67700" spcFirstLastPara="1" rIns="67700" wrap="square" tIns="67700">
            <a:spAutoFit/>
          </a:bodyPr>
          <a:lstStyle/>
          <a:p>
            <a:pPr indent="0" lvl="0" marL="0" rtl="0" algn="l">
              <a:spcBef>
                <a:spcPts val="0"/>
              </a:spcBef>
              <a:spcAft>
                <a:spcPts val="0"/>
              </a:spcAft>
              <a:buNone/>
            </a:pPr>
            <a:r>
              <a:rPr b="1" lang="en" sz="1037">
                <a:solidFill>
                  <a:srgbClr val="469CD4"/>
                </a:solidFill>
                <a:latin typeface="Open Sans"/>
                <a:ea typeface="Open Sans"/>
                <a:cs typeface="Open Sans"/>
                <a:sym typeface="Open Sans"/>
              </a:rPr>
              <a:t>Proof</a:t>
            </a:r>
            <a:endParaRPr b="1" sz="1037"/>
          </a:p>
        </p:txBody>
      </p:sp>
      <p:pic>
        <p:nvPicPr>
          <p:cNvPr id="312" name="Google Shape;312;p34"/>
          <p:cNvPicPr preferRelativeResize="0"/>
          <p:nvPr/>
        </p:nvPicPr>
        <p:blipFill>
          <a:blip r:embed="rId3">
            <a:alphaModFix/>
          </a:blip>
          <a:stretch>
            <a:fillRect/>
          </a:stretch>
        </p:blipFill>
        <p:spPr>
          <a:xfrm>
            <a:off x="433108" y="2396098"/>
            <a:ext cx="2221839" cy="240202"/>
          </a:xfrm>
          <a:prstGeom prst="rect">
            <a:avLst/>
          </a:prstGeom>
          <a:noFill/>
          <a:ln>
            <a:noFill/>
          </a:ln>
        </p:spPr>
      </p:pic>
      <p:pic>
        <p:nvPicPr>
          <p:cNvPr id="313" name="Google Shape;313;p34"/>
          <p:cNvPicPr preferRelativeResize="0"/>
          <p:nvPr/>
        </p:nvPicPr>
        <p:blipFill>
          <a:blip r:embed="rId4">
            <a:alphaModFix/>
          </a:blip>
          <a:stretch>
            <a:fillRect/>
          </a:stretch>
        </p:blipFill>
        <p:spPr>
          <a:xfrm>
            <a:off x="438774" y="3071337"/>
            <a:ext cx="980627" cy="384230"/>
          </a:xfrm>
          <a:prstGeom prst="rect">
            <a:avLst/>
          </a:prstGeom>
          <a:noFill/>
          <a:ln>
            <a:noFill/>
          </a:ln>
        </p:spPr>
      </p:pic>
      <p:pic>
        <p:nvPicPr>
          <p:cNvPr id="314" name="Google Shape;314;p34"/>
          <p:cNvPicPr preferRelativeResize="0"/>
          <p:nvPr/>
        </p:nvPicPr>
        <p:blipFill>
          <a:blip r:embed="rId5">
            <a:alphaModFix/>
          </a:blip>
          <a:stretch>
            <a:fillRect/>
          </a:stretch>
        </p:blipFill>
        <p:spPr>
          <a:xfrm>
            <a:off x="1512498" y="3077110"/>
            <a:ext cx="946255" cy="384230"/>
          </a:xfrm>
          <a:prstGeom prst="rect">
            <a:avLst/>
          </a:prstGeom>
          <a:noFill/>
          <a:ln>
            <a:noFill/>
          </a:ln>
        </p:spPr>
      </p:pic>
      <p:pic>
        <p:nvPicPr>
          <p:cNvPr id="315" name="Google Shape;315;p34"/>
          <p:cNvPicPr preferRelativeResize="0"/>
          <p:nvPr/>
        </p:nvPicPr>
        <p:blipFill>
          <a:blip r:embed="rId6">
            <a:alphaModFix/>
          </a:blip>
          <a:stretch>
            <a:fillRect/>
          </a:stretch>
        </p:blipFill>
        <p:spPr>
          <a:xfrm>
            <a:off x="461733" y="3878854"/>
            <a:ext cx="782624" cy="278655"/>
          </a:xfrm>
          <a:prstGeom prst="rect">
            <a:avLst/>
          </a:prstGeom>
          <a:noFill/>
          <a:ln>
            <a:noFill/>
          </a:ln>
        </p:spPr>
      </p:pic>
      <p:pic>
        <p:nvPicPr>
          <p:cNvPr id="316" name="Google Shape;316;p34"/>
          <p:cNvPicPr preferRelativeResize="0"/>
          <p:nvPr/>
        </p:nvPicPr>
        <p:blipFill>
          <a:blip r:embed="rId7">
            <a:alphaModFix/>
          </a:blip>
          <a:stretch>
            <a:fillRect/>
          </a:stretch>
        </p:blipFill>
        <p:spPr>
          <a:xfrm>
            <a:off x="1407645" y="3930474"/>
            <a:ext cx="1330848" cy="240199"/>
          </a:xfrm>
          <a:prstGeom prst="rect">
            <a:avLst/>
          </a:prstGeom>
          <a:noFill/>
          <a:ln>
            <a:noFill/>
          </a:ln>
        </p:spPr>
      </p:pic>
      <p:pic>
        <p:nvPicPr>
          <p:cNvPr id="317" name="Google Shape;317;p34"/>
          <p:cNvPicPr preferRelativeResize="0"/>
          <p:nvPr/>
        </p:nvPicPr>
        <p:blipFill>
          <a:blip r:embed="rId8">
            <a:alphaModFix/>
          </a:blip>
          <a:stretch>
            <a:fillRect/>
          </a:stretch>
        </p:blipFill>
        <p:spPr>
          <a:xfrm>
            <a:off x="1271522" y="3955682"/>
            <a:ext cx="114462" cy="132539"/>
          </a:xfrm>
          <a:prstGeom prst="rect">
            <a:avLst/>
          </a:prstGeom>
          <a:noFill/>
          <a:ln>
            <a:noFill/>
          </a:ln>
        </p:spPr>
      </p:pic>
      <p:pic>
        <p:nvPicPr>
          <p:cNvPr id="318" name="Google Shape;318;p34"/>
          <p:cNvPicPr preferRelativeResize="0"/>
          <p:nvPr/>
        </p:nvPicPr>
        <p:blipFill>
          <a:blip r:embed="rId9">
            <a:alphaModFix/>
          </a:blip>
          <a:stretch>
            <a:fillRect/>
          </a:stretch>
        </p:blipFill>
        <p:spPr>
          <a:xfrm>
            <a:off x="461733" y="4510030"/>
            <a:ext cx="1243249" cy="200132"/>
          </a:xfrm>
          <a:prstGeom prst="rect">
            <a:avLst/>
          </a:prstGeom>
          <a:noFill/>
          <a:ln>
            <a:noFill/>
          </a:ln>
        </p:spPr>
      </p:pic>
      <p:sp>
        <p:nvSpPr>
          <p:cNvPr id="319" name="Google Shape;319;p34"/>
          <p:cNvSpPr txBox="1"/>
          <p:nvPr/>
        </p:nvSpPr>
        <p:spPr>
          <a:xfrm>
            <a:off x="206223" y="2367879"/>
            <a:ext cx="244200" cy="200100"/>
          </a:xfrm>
          <a:prstGeom prst="rect">
            <a:avLst/>
          </a:prstGeom>
          <a:noFill/>
          <a:ln>
            <a:noFill/>
          </a:ln>
        </p:spPr>
        <p:txBody>
          <a:bodyPr anchorCtr="0" anchor="t" bIns="67700" lIns="67700" spcFirstLastPara="1" rIns="67700" wrap="square" tIns="67700">
            <a:noAutofit/>
          </a:bodyPr>
          <a:lstStyle/>
          <a:p>
            <a:pPr indent="0" lvl="0" marL="0" rtl="0" algn="l">
              <a:spcBef>
                <a:spcPts val="0"/>
              </a:spcBef>
              <a:spcAft>
                <a:spcPts val="0"/>
              </a:spcAft>
              <a:buNone/>
            </a:pPr>
            <a:r>
              <a:rPr lang="en" sz="963">
                <a:solidFill>
                  <a:schemeClr val="dk2"/>
                </a:solidFill>
                <a:latin typeface="Times New Roman"/>
                <a:ea typeface="Times New Roman"/>
                <a:cs typeface="Times New Roman"/>
                <a:sym typeface="Times New Roman"/>
              </a:rPr>
              <a:t>1.</a:t>
            </a:r>
            <a:endParaRPr sz="963">
              <a:solidFill>
                <a:schemeClr val="dk2"/>
              </a:solidFill>
              <a:latin typeface="Times New Roman"/>
              <a:ea typeface="Times New Roman"/>
              <a:cs typeface="Times New Roman"/>
              <a:sym typeface="Times New Roman"/>
            </a:endParaRPr>
          </a:p>
        </p:txBody>
      </p:sp>
      <p:sp>
        <p:nvSpPr>
          <p:cNvPr id="320" name="Google Shape;320;p34"/>
          <p:cNvSpPr txBox="1"/>
          <p:nvPr/>
        </p:nvSpPr>
        <p:spPr>
          <a:xfrm>
            <a:off x="217333" y="3120075"/>
            <a:ext cx="244200" cy="200100"/>
          </a:xfrm>
          <a:prstGeom prst="rect">
            <a:avLst/>
          </a:prstGeom>
          <a:noFill/>
          <a:ln>
            <a:noFill/>
          </a:ln>
        </p:spPr>
        <p:txBody>
          <a:bodyPr anchorCtr="0" anchor="t" bIns="67700" lIns="67700" spcFirstLastPara="1" rIns="67700" wrap="square" tIns="67700">
            <a:noAutofit/>
          </a:bodyPr>
          <a:lstStyle/>
          <a:p>
            <a:pPr indent="0" lvl="0" marL="0" rtl="0" algn="l">
              <a:spcBef>
                <a:spcPts val="0"/>
              </a:spcBef>
              <a:spcAft>
                <a:spcPts val="0"/>
              </a:spcAft>
              <a:buNone/>
            </a:pPr>
            <a:r>
              <a:rPr lang="en" sz="963">
                <a:solidFill>
                  <a:schemeClr val="dk2"/>
                </a:solidFill>
                <a:latin typeface="Times New Roman"/>
                <a:ea typeface="Times New Roman"/>
                <a:cs typeface="Times New Roman"/>
                <a:sym typeface="Times New Roman"/>
              </a:rPr>
              <a:t>2</a:t>
            </a:r>
            <a:r>
              <a:rPr lang="en" sz="963">
                <a:solidFill>
                  <a:schemeClr val="dk2"/>
                </a:solidFill>
                <a:latin typeface="Times New Roman"/>
                <a:ea typeface="Times New Roman"/>
                <a:cs typeface="Times New Roman"/>
                <a:sym typeface="Times New Roman"/>
              </a:rPr>
              <a:t>.</a:t>
            </a:r>
            <a:endParaRPr sz="963">
              <a:solidFill>
                <a:schemeClr val="dk2"/>
              </a:solidFill>
              <a:latin typeface="Times New Roman"/>
              <a:ea typeface="Times New Roman"/>
              <a:cs typeface="Times New Roman"/>
              <a:sym typeface="Times New Roman"/>
            </a:endParaRPr>
          </a:p>
        </p:txBody>
      </p:sp>
      <p:sp>
        <p:nvSpPr>
          <p:cNvPr id="321" name="Google Shape;321;p34"/>
          <p:cNvSpPr txBox="1"/>
          <p:nvPr/>
        </p:nvSpPr>
        <p:spPr>
          <a:xfrm>
            <a:off x="217333" y="3904342"/>
            <a:ext cx="244200" cy="200100"/>
          </a:xfrm>
          <a:prstGeom prst="rect">
            <a:avLst/>
          </a:prstGeom>
          <a:noFill/>
          <a:ln>
            <a:noFill/>
          </a:ln>
        </p:spPr>
        <p:txBody>
          <a:bodyPr anchorCtr="0" anchor="t" bIns="67700" lIns="67700" spcFirstLastPara="1" rIns="67700" wrap="square" tIns="67700">
            <a:noAutofit/>
          </a:bodyPr>
          <a:lstStyle/>
          <a:p>
            <a:pPr indent="0" lvl="0" marL="0" rtl="0" algn="l">
              <a:spcBef>
                <a:spcPts val="0"/>
              </a:spcBef>
              <a:spcAft>
                <a:spcPts val="0"/>
              </a:spcAft>
              <a:buNone/>
            </a:pPr>
            <a:r>
              <a:rPr lang="en" sz="963">
                <a:solidFill>
                  <a:schemeClr val="dk2"/>
                </a:solidFill>
                <a:latin typeface="Times New Roman"/>
                <a:ea typeface="Times New Roman"/>
                <a:cs typeface="Times New Roman"/>
                <a:sym typeface="Times New Roman"/>
              </a:rPr>
              <a:t>3</a:t>
            </a:r>
            <a:r>
              <a:rPr lang="en" sz="963">
                <a:solidFill>
                  <a:schemeClr val="dk2"/>
                </a:solidFill>
                <a:latin typeface="Times New Roman"/>
                <a:ea typeface="Times New Roman"/>
                <a:cs typeface="Times New Roman"/>
                <a:sym typeface="Times New Roman"/>
              </a:rPr>
              <a:t>.</a:t>
            </a:r>
            <a:endParaRPr sz="963">
              <a:solidFill>
                <a:schemeClr val="dk2"/>
              </a:solidFill>
              <a:latin typeface="Times New Roman"/>
              <a:ea typeface="Times New Roman"/>
              <a:cs typeface="Times New Roman"/>
              <a:sym typeface="Times New Roman"/>
            </a:endParaRPr>
          </a:p>
        </p:txBody>
      </p:sp>
      <p:sp>
        <p:nvSpPr>
          <p:cNvPr id="322" name="Google Shape;322;p34"/>
          <p:cNvSpPr txBox="1"/>
          <p:nvPr/>
        </p:nvSpPr>
        <p:spPr>
          <a:xfrm>
            <a:off x="2697074" y="2340983"/>
            <a:ext cx="3941400" cy="563700"/>
          </a:xfrm>
          <a:prstGeom prst="rect">
            <a:avLst/>
          </a:prstGeom>
          <a:noFill/>
          <a:ln>
            <a:noFill/>
          </a:ln>
        </p:spPr>
        <p:txBody>
          <a:bodyPr anchorCtr="0" anchor="t" bIns="67700" lIns="67700" spcFirstLastPara="1" rIns="67700" wrap="square" tIns="67700">
            <a:spAutoFit/>
          </a:bodyPr>
          <a:lstStyle/>
          <a:p>
            <a:pPr indent="0" lvl="0" marL="282174" marR="282174" rtl="0" algn="l">
              <a:lnSpc>
                <a:spcPct val="115000"/>
              </a:lnSpc>
              <a:spcBef>
                <a:spcPts val="889"/>
              </a:spcBef>
              <a:spcAft>
                <a:spcPts val="889"/>
              </a:spcAft>
              <a:buNone/>
            </a:pPr>
            <a:r>
              <a:rPr lang="en" sz="841">
                <a:solidFill>
                  <a:srgbClr val="469CD4"/>
                </a:solidFill>
                <a:latin typeface="Open Sans"/>
                <a:ea typeface="Open Sans"/>
                <a:cs typeface="Open Sans"/>
                <a:sym typeface="Open Sans"/>
              </a:rPr>
              <a:t>Everything above 0.625 MHz is multiplied by zero. It does not exist in the recorded data. This is not compression, it is permanent deletion in hardware proven in the Nyquist Limit.</a:t>
            </a:r>
            <a:endParaRPr sz="841">
              <a:solidFill>
                <a:srgbClr val="469CD4"/>
              </a:solidFill>
              <a:latin typeface="Open Sans"/>
              <a:ea typeface="Open Sans"/>
              <a:cs typeface="Open Sans"/>
              <a:sym typeface="Open Sans"/>
            </a:endParaRPr>
          </a:p>
        </p:txBody>
      </p:sp>
      <p:sp>
        <p:nvSpPr>
          <p:cNvPr id="323" name="Google Shape;323;p34"/>
          <p:cNvSpPr txBox="1"/>
          <p:nvPr/>
        </p:nvSpPr>
        <p:spPr>
          <a:xfrm>
            <a:off x="2691314" y="2866136"/>
            <a:ext cx="3735600" cy="1010100"/>
          </a:xfrm>
          <a:prstGeom prst="rect">
            <a:avLst/>
          </a:prstGeom>
          <a:noFill/>
          <a:ln>
            <a:noFill/>
          </a:ln>
        </p:spPr>
        <p:txBody>
          <a:bodyPr anchorCtr="0" anchor="t" bIns="67700" lIns="67700" spcFirstLastPara="1" rIns="67700" wrap="square" tIns="67700">
            <a:spAutoFit/>
          </a:bodyPr>
          <a:lstStyle/>
          <a:p>
            <a:pPr indent="0" lvl="0" marL="282174" marR="282174" rtl="0" algn="l">
              <a:lnSpc>
                <a:spcPct val="115000"/>
              </a:lnSpc>
              <a:spcBef>
                <a:spcPts val="889"/>
              </a:spcBef>
              <a:spcAft>
                <a:spcPts val="889"/>
              </a:spcAft>
              <a:buNone/>
            </a:pPr>
            <a:r>
              <a:rPr lang="en" sz="841">
                <a:solidFill>
                  <a:srgbClr val="469CD4"/>
                </a:solidFill>
                <a:latin typeface="Open Sans"/>
                <a:ea typeface="Open Sans"/>
                <a:cs typeface="Open Sans"/>
                <a:sym typeface="Open Sans"/>
              </a:rPr>
              <a:t>Maximum accuracy is capped by how much information the input shares with the correct label, and this bound has nothing to do with the model. Every weight, every layer, every architecture choice is represented by theta and theta does not appear anywhere in this equation. This is why 21 approaches all failed.</a:t>
            </a:r>
            <a:endParaRPr sz="1137"/>
          </a:p>
        </p:txBody>
      </p:sp>
      <p:sp>
        <p:nvSpPr>
          <p:cNvPr id="324" name="Google Shape;324;p34"/>
          <p:cNvSpPr txBox="1"/>
          <p:nvPr/>
        </p:nvSpPr>
        <p:spPr>
          <a:xfrm>
            <a:off x="2691314" y="3788105"/>
            <a:ext cx="3735600" cy="712500"/>
          </a:xfrm>
          <a:prstGeom prst="rect">
            <a:avLst/>
          </a:prstGeom>
          <a:noFill/>
          <a:ln>
            <a:noFill/>
          </a:ln>
        </p:spPr>
        <p:txBody>
          <a:bodyPr anchorCtr="0" anchor="t" bIns="67700" lIns="67700" spcFirstLastPara="1" rIns="67700" wrap="square" tIns="67700">
            <a:spAutoFit/>
          </a:bodyPr>
          <a:lstStyle/>
          <a:p>
            <a:pPr indent="0" lvl="0" marL="282174" marR="282174" rtl="0" algn="l">
              <a:lnSpc>
                <a:spcPct val="115000"/>
              </a:lnSpc>
              <a:spcBef>
                <a:spcPts val="889"/>
              </a:spcBef>
              <a:spcAft>
                <a:spcPts val="889"/>
              </a:spcAft>
              <a:buNone/>
            </a:pPr>
            <a:r>
              <a:rPr lang="en" sz="841">
                <a:solidFill>
                  <a:srgbClr val="469CD4"/>
                </a:solidFill>
                <a:latin typeface="Open Sans"/>
                <a:ea typeface="Open Sans"/>
                <a:cs typeface="Open Sans"/>
                <a:sym typeface="Open Sans"/>
              </a:rPr>
              <a:t>STFT does not recover deleted frequencies. It looks more carefully at what survived. By resolving fine frequency structure within the preserved band, it exposes patterns the raw signal hid,  increasing mutual information with the label.</a:t>
            </a:r>
            <a:endParaRPr sz="1137"/>
          </a:p>
        </p:txBody>
      </p:sp>
      <p:sp>
        <p:nvSpPr>
          <p:cNvPr id="325" name="Google Shape;325;p34"/>
          <p:cNvSpPr txBox="1"/>
          <p:nvPr/>
        </p:nvSpPr>
        <p:spPr>
          <a:xfrm>
            <a:off x="2691314" y="4513932"/>
            <a:ext cx="3735600" cy="381900"/>
          </a:xfrm>
          <a:prstGeom prst="rect">
            <a:avLst/>
          </a:prstGeom>
          <a:noFill/>
          <a:ln>
            <a:noFill/>
          </a:ln>
        </p:spPr>
        <p:txBody>
          <a:bodyPr anchorCtr="0" anchor="t" bIns="67700" lIns="67700" spcFirstLastPara="1" rIns="67700" wrap="square" tIns="67700">
            <a:spAutoFit/>
          </a:bodyPr>
          <a:lstStyle/>
          <a:p>
            <a:pPr indent="0" lvl="0" marL="282174" marR="282174" rtl="0" algn="l">
              <a:lnSpc>
                <a:spcPct val="115000"/>
              </a:lnSpc>
              <a:spcBef>
                <a:spcPts val="889"/>
              </a:spcBef>
              <a:spcAft>
                <a:spcPts val="889"/>
              </a:spcAft>
              <a:buNone/>
            </a:pPr>
            <a:r>
              <a:rPr lang="en" sz="741">
                <a:solidFill>
                  <a:srgbClr val="469CD4"/>
                </a:solidFill>
                <a:latin typeface="Open Sans"/>
                <a:ea typeface="Open Sans"/>
                <a:cs typeface="Open Sans"/>
                <a:sym typeface="Open Sans"/>
              </a:rPr>
              <a:t>STFT provably achieves a higher accuracy ceiling than any raw signal model.</a:t>
            </a:r>
            <a:endParaRPr sz="1037"/>
          </a:p>
        </p:txBody>
      </p:sp>
      <p:pic>
        <p:nvPicPr>
          <p:cNvPr id="326" name="Google Shape;326;p34"/>
          <p:cNvPicPr preferRelativeResize="0"/>
          <p:nvPr/>
        </p:nvPicPr>
        <p:blipFill>
          <a:blip r:embed="rId7">
            <a:alphaModFix/>
          </a:blip>
          <a:stretch>
            <a:fillRect/>
          </a:stretch>
        </p:blipFill>
        <p:spPr>
          <a:xfrm>
            <a:off x="7097320" y="2305381"/>
            <a:ext cx="1330848" cy="240199"/>
          </a:xfrm>
          <a:prstGeom prst="rect">
            <a:avLst/>
          </a:prstGeom>
          <a:noFill/>
          <a:ln>
            <a:noFill/>
          </a:ln>
        </p:spPr>
      </p:pic>
      <p:sp>
        <p:nvSpPr>
          <p:cNvPr id="327" name="Google Shape;327;p34"/>
          <p:cNvSpPr txBox="1"/>
          <p:nvPr/>
        </p:nvSpPr>
        <p:spPr>
          <a:xfrm>
            <a:off x="6510750" y="2545583"/>
            <a:ext cx="23679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469CD4"/>
                </a:solidFill>
                <a:latin typeface="Open Sans"/>
                <a:ea typeface="Open Sans"/>
                <a:cs typeface="Open Sans"/>
                <a:sym typeface="Open Sans"/>
              </a:rPr>
              <a:t>This is not theoretical. We computed mutual information directly from 2,000 real test samples. Raw IQ carries zero measurable information about the protocol label. STFT exposes 0.1025 bits.</a:t>
            </a:r>
            <a:endParaRPr sz="900">
              <a:solidFill>
                <a:srgbClr val="469CD4"/>
              </a:solidFill>
              <a:latin typeface="Open Sans"/>
              <a:ea typeface="Open Sans"/>
              <a:cs typeface="Open Sans"/>
              <a:sym typeface="Open Sans"/>
            </a:endParaRPr>
          </a:p>
        </p:txBody>
      </p:sp>
      <p:pic>
        <p:nvPicPr>
          <p:cNvPr id="328" name="Google Shape;328;p34"/>
          <p:cNvPicPr preferRelativeResize="0"/>
          <p:nvPr/>
        </p:nvPicPr>
        <p:blipFill>
          <a:blip r:embed="rId10">
            <a:alphaModFix/>
          </a:blip>
          <a:stretch>
            <a:fillRect/>
          </a:stretch>
        </p:blipFill>
        <p:spPr>
          <a:xfrm>
            <a:off x="6368168" y="3450284"/>
            <a:ext cx="2653071" cy="1645576"/>
          </a:xfrm>
          <a:prstGeom prst="rect">
            <a:avLst/>
          </a:prstGeom>
          <a:noFill/>
          <a:ln>
            <a:noFill/>
          </a:ln>
        </p:spPr>
      </p:pic>
      <p:sp>
        <p:nvSpPr>
          <p:cNvPr id="329" name="Google Shape;329;p34"/>
          <p:cNvSpPr txBox="1"/>
          <p:nvPr/>
        </p:nvSpPr>
        <p:spPr>
          <a:xfrm>
            <a:off x="6774072" y="2269020"/>
            <a:ext cx="337800" cy="200100"/>
          </a:xfrm>
          <a:prstGeom prst="rect">
            <a:avLst/>
          </a:prstGeom>
          <a:noFill/>
          <a:ln>
            <a:noFill/>
          </a:ln>
        </p:spPr>
        <p:txBody>
          <a:bodyPr anchorCtr="0" anchor="t" bIns="67700" lIns="67700" spcFirstLastPara="1" rIns="67700" wrap="square" tIns="67700">
            <a:noAutofit/>
          </a:bodyPr>
          <a:lstStyle/>
          <a:p>
            <a:pPr indent="0" lvl="0" marL="0" rtl="0" algn="l">
              <a:spcBef>
                <a:spcPts val="0"/>
              </a:spcBef>
              <a:spcAft>
                <a:spcPts val="0"/>
              </a:spcAft>
              <a:buNone/>
            </a:pPr>
            <a:r>
              <a:rPr b="1" lang="en" sz="1163">
                <a:solidFill>
                  <a:schemeClr val="dk2"/>
                </a:solidFill>
                <a:latin typeface="Times New Roman"/>
                <a:ea typeface="Times New Roman"/>
                <a:cs typeface="Times New Roman"/>
                <a:sym typeface="Times New Roman"/>
              </a:rPr>
              <a:t>3.</a:t>
            </a:r>
            <a:endParaRPr b="1" sz="1163">
              <a:solidFill>
                <a:schemeClr val="dk2"/>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5" name="Google Shape;335;p35"/>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Procedure 5: Furter </a:t>
            </a:r>
            <a:r>
              <a:rPr b="1" lang="en" sz="3300">
                <a:solidFill>
                  <a:schemeClr val="lt1"/>
                </a:solidFill>
                <a:latin typeface="Open Sans"/>
                <a:ea typeface="Open Sans"/>
                <a:cs typeface="Open Sans"/>
                <a:sym typeface="Open Sans"/>
              </a:rPr>
              <a:t>nfft Sweep</a:t>
            </a:r>
            <a:endParaRPr b="1" sz="3300">
              <a:solidFill>
                <a:schemeClr val="lt1"/>
              </a:solidFill>
              <a:latin typeface="Open Sans"/>
              <a:ea typeface="Open Sans"/>
              <a:cs typeface="Open Sans"/>
              <a:sym typeface="Open Sans"/>
            </a:endParaRPr>
          </a:p>
        </p:txBody>
      </p:sp>
      <p:pic>
        <p:nvPicPr>
          <p:cNvPr id="336" name="Google Shape;336;p35"/>
          <p:cNvPicPr preferRelativeResize="0"/>
          <p:nvPr/>
        </p:nvPicPr>
        <p:blipFill rotWithShape="1">
          <a:blip r:embed="rId3">
            <a:alphaModFix/>
          </a:blip>
          <a:srcRect b="18235" l="0" r="0" t="25968"/>
          <a:stretch/>
        </p:blipFill>
        <p:spPr>
          <a:xfrm>
            <a:off x="298788" y="1585325"/>
            <a:ext cx="5271433" cy="1671700"/>
          </a:xfrm>
          <a:prstGeom prst="rect">
            <a:avLst/>
          </a:prstGeom>
          <a:noFill/>
          <a:ln>
            <a:noFill/>
          </a:ln>
        </p:spPr>
      </p:pic>
      <p:sp>
        <p:nvSpPr>
          <p:cNvPr id="337" name="Google Shape;337;p35"/>
          <p:cNvSpPr txBox="1"/>
          <p:nvPr/>
        </p:nvSpPr>
        <p:spPr>
          <a:xfrm>
            <a:off x="870800" y="1198625"/>
            <a:ext cx="768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nfft is the window size used in the STFT. It controls how finely the frequency axis is divided.</a:t>
            </a:r>
            <a:endParaRPr>
              <a:solidFill>
                <a:srgbClr val="469CD4"/>
              </a:solidFill>
              <a:latin typeface="Open Sans"/>
              <a:ea typeface="Open Sans"/>
              <a:cs typeface="Open Sans"/>
              <a:sym typeface="Open Sans"/>
            </a:endParaRPr>
          </a:p>
        </p:txBody>
      </p:sp>
      <p:pic>
        <p:nvPicPr>
          <p:cNvPr id="338" name="Google Shape;338;p35"/>
          <p:cNvPicPr preferRelativeResize="0"/>
          <p:nvPr/>
        </p:nvPicPr>
        <p:blipFill rotWithShape="1">
          <a:blip r:embed="rId4">
            <a:alphaModFix/>
          </a:blip>
          <a:srcRect b="6045" l="0" r="0" t="5957"/>
          <a:stretch/>
        </p:blipFill>
        <p:spPr>
          <a:xfrm>
            <a:off x="6404300" y="1554825"/>
            <a:ext cx="2662674" cy="3514445"/>
          </a:xfrm>
          <a:prstGeom prst="rect">
            <a:avLst/>
          </a:prstGeom>
          <a:noFill/>
          <a:ln>
            <a:noFill/>
          </a:ln>
        </p:spPr>
      </p:pic>
      <p:pic>
        <p:nvPicPr>
          <p:cNvPr id="339" name="Google Shape;339;p35"/>
          <p:cNvPicPr preferRelativeResize="0"/>
          <p:nvPr/>
        </p:nvPicPr>
        <p:blipFill>
          <a:blip r:embed="rId5">
            <a:alphaModFix/>
          </a:blip>
          <a:stretch>
            <a:fillRect/>
          </a:stretch>
        </p:blipFill>
        <p:spPr>
          <a:xfrm>
            <a:off x="298788" y="3559959"/>
            <a:ext cx="1951051" cy="545025"/>
          </a:xfrm>
          <a:prstGeom prst="rect">
            <a:avLst/>
          </a:prstGeom>
          <a:noFill/>
          <a:ln>
            <a:noFill/>
          </a:ln>
        </p:spPr>
      </p:pic>
      <p:sp>
        <p:nvSpPr>
          <p:cNvPr id="340" name="Google Shape;340;p35"/>
          <p:cNvSpPr txBox="1"/>
          <p:nvPr/>
        </p:nvSpPr>
        <p:spPr>
          <a:xfrm>
            <a:off x="223713" y="3217559"/>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Frequency resolution formula:</a:t>
            </a:r>
            <a:endParaRPr b="1">
              <a:solidFill>
                <a:srgbClr val="469CD4"/>
              </a:solidFill>
              <a:latin typeface="Open Sans"/>
              <a:ea typeface="Open Sans"/>
              <a:cs typeface="Open Sans"/>
              <a:sym typeface="Open Sans"/>
            </a:endParaRPr>
          </a:p>
        </p:txBody>
      </p:sp>
      <p:pic>
        <p:nvPicPr>
          <p:cNvPr id="341" name="Google Shape;341;p35"/>
          <p:cNvPicPr preferRelativeResize="0"/>
          <p:nvPr/>
        </p:nvPicPr>
        <p:blipFill>
          <a:blip r:embed="rId6">
            <a:alphaModFix/>
          </a:blip>
          <a:stretch>
            <a:fillRect/>
          </a:stretch>
        </p:blipFill>
        <p:spPr>
          <a:xfrm>
            <a:off x="2479715" y="3559947"/>
            <a:ext cx="3694720" cy="400200"/>
          </a:xfrm>
          <a:prstGeom prst="rect">
            <a:avLst/>
          </a:prstGeom>
          <a:noFill/>
          <a:ln>
            <a:noFill/>
          </a:ln>
        </p:spPr>
      </p:pic>
      <p:pic>
        <p:nvPicPr>
          <p:cNvPr id="342" name="Google Shape;342;p35"/>
          <p:cNvPicPr preferRelativeResize="0"/>
          <p:nvPr/>
        </p:nvPicPr>
        <p:blipFill>
          <a:blip r:embed="rId7">
            <a:alphaModFix/>
          </a:blip>
          <a:stretch>
            <a:fillRect/>
          </a:stretch>
        </p:blipFill>
        <p:spPr>
          <a:xfrm>
            <a:off x="2490062" y="3961411"/>
            <a:ext cx="3694725" cy="378949"/>
          </a:xfrm>
          <a:prstGeom prst="rect">
            <a:avLst/>
          </a:prstGeom>
          <a:noFill/>
          <a:ln>
            <a:noFill/>
          </a:ln>
        </p:spPr>
      </p:pic>
      <p:pic>
        <p:nvPicPr>
          <p:cNvPr id="343" name="Google Shape;343;p35"/>
          <p:cNvPicPr preferRelativeResize="0"/>
          <p:nvPr/>
        </p:nvPicPr>
        <p:blipFill>
          <a:blip r:embed="rId8">
            <a:alphaModFix/>
          </a:blip>
          <a:stretch>
            <a:fillRect/>
          </a:stretch>
        </p:blipFill>
        <p:spPr>
          <a:xfrm>
            <a:off x="2490063" y="4370325"/>
            <a:ext cx="3132649" cy="348750"/>
          </a:xfrm>
          <a:prstGeom prst="rect">
            <a:avLst/>
          </a:prstGeom>
          <a:noFill/>
          <a:ln>
            <a:noFill/>
          </a:ln>
        </p:spPr>
      </p:pic>
      <p:pic>
        <p:nvPicPr>
          <p:cNvPr id="344" name="Google Shape;344;p35"/>
          <p:cNvPicPr preferRelativeResize="0"/>
          <p:nvPr/>
        </p:nvPicPr>
        <p:blipFill>
          <a:blip r:embed="rId9">
            <a:alphaModFix/>
          </a:blip>
          <a:stretch>
            <a:fillRect/>
          </a:stretch>
        </p:blipFill>
        <p:spPr>
          <a:xfrm>
            <a:off x="223724" y="4612918"/>
            <a:ext cx="3755903" cy="459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50" name="Google Shape;350;p36"/>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Results</a:t>
            </a:r>
            <a:endParaRPr b="1" sz="3300">
              <a:solidFill>
                <a:schemeClr val="lt1"/>
              </a:solidFill>
              <a:latin typeface="Open Sans"/>
              <a:ea typeface="Open Sans"/>
              <a:cs typeface="Open Sans"/>
              <a:sym typeface="Open Sans"/>
            </a:endParaRPr>
          </a:p>
        </p:txBody>
      </p:sp>
      <p:pic>
        <p:nvPicPr>
          <p:cNvPr id="351" name="Google Shape;351;p36"/>
          <p:cNvPicPr preferRelativeResize="0"/>
          <p:nvPr/>
        </p:nvPicPr>
        <p:blipFill rotWithShape="1">
          <a:blip r:embed="rId3">
            <a:alphaModFix/>
          </a:blip>
          <a:srcRect b="16056" l="0" r="50000" t="23265"/>
          <a:stretch/>
        </p:blipFill>
        <p:spPr>
          <a:xfrm>
            <a:off x="139700" y="1203475"/>
            <a:ext cx="4619624" cy="1728876"/>
          </a:xfrm>
          <a:prstGeom prst="rect">
            <a:avLst/>
          </a:prstGeom>
          <a:noFill/>
          <a:ln>
            <a:noFill/>
          </a:ln>
        </p:spPr>
      </p:pic>
      <p:sp>
        <p:nvSpPr>
          <p:cNvPr id="352" name="Google Shape;352;p36"/>
          <p:cNvSpPr txBox="1"/>
          <p:nvPr/>
        </p:nvSpPr>
        <p:spPr>
          <a:xfrm>
            <a:off x="139663" y="2813288"/>
            <a:ext cx="461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One method broke the ceiling. Everything else hit the same wall.</a:t>
            </a:r>
            <a:endParaRPr>
              <a:solidFill>
                <a:srgbClr val="469CD4"/>
              </a:solidFill>
              <a:latin typeface="Open Sans"/>
              <a:ea typeface="Open Sans"/>
              <a:cs typeface="Open Sans"/>
              <a:sym typeface="Open Sans"/>
            </a:endParaRPr>
          </a:p>
        </p:txBody>
      </p:sp>
      <p:sp>
        <p:nvSpPr>
          <p:cNvPr id="353" name="Google Shape;353;p36"/>
          <p:cNvSpPr txBox="1"/>
          <p:nvPr/>
        </p:nvSpPr>
        <p:spPr>
          <a:xfrm>
            <a:off x="4948050" y="1311225"/>
            <a:ext cx="4020300" cy="2770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469CD4"/>
              </a:buClr>
              <a:buSzPts val="1400"/>
              <a:buFont typeface="Open Sans"/>
              <a:buChar char="●"/>
            </a:pPr>
            <a:r>
              <a:rPr lang="en">
                <a:solidFill>
                  <a:srgbClr val="469CD4"/>
                </a:solidFill>
                <a:latin typeface="Open Sans"/>
                <a:ea typeface="Open Sans"/>
                <a:cs typeface="Open Sans"/>
                <a:sym typeface="Open Sans"/>
              </a:rPr>
              <a:t>21.7% of the gap between baseline and teacher closed by STFT</a:t>
            </a:r>
            <a:endParaRPr>
              <a:solidFill>
                <a:srgbClr val="469CD4"/>
              </a:solidFill>
              <a:latin typeface="Open Sans"/>
              <a:ea typeface="Open Sans"/>
              <a:cs typeface="Open Sans"/>
              <a:sym typeface="Open Sans"/>
            </a:endParaRPr>
          </a:p>
          <a:p>
            <a:pPr indent="-317500" lvl="0" marL="457200" rtl="0" algn="l">
              <a:spcBef>
                <a:spcPts val="0"/>
              </a:spcBef>
              <a:spcAft>
                <a:spcPts val="0"/>
              </a:spcAft>
              <a:buClr>
                <a:srgbClr val="469CD4"/>
              </a:buClr>
              <a:buSzPts val="1400"/>
              <a:buFont typeface="Open Sans"/>
              <a:buChar char="●"/>
            </a:pPr>
            <a:r>
              <a:rPr lang="en">
                <a:solidFill>
                  <a:srgbClr val="469CD4"/>
                </a:solidFill>
                <a:latin typeface="Open Sans"/>
                <a:ea typeface="Open Sans"/>
                <a:cs typeface="Open Sans"/>
                <a:sym typeface="Open Sans"/>
              </a:rPr>
              <a:t>78.3% of the gap is irreducible: spectral content above 0.625 MHz is permanently gone</a:t>
            </a:r>
            <a:endParaRPr>
              <a:solidFill>
                <a:srgbClr val="469CD4"/>
              </a:solidFill>
              <a:latin typeface="Open Sans"/>
              <a:ea typeface="Open Sans"/>
              <a:cs typeface="Open Sans"/>
              <a:sym typeface="Open Sans"/>
            </a:endParaRPr>
          </a:p>
          <a:p>
            <a:pPr indent="-317500" lvl="0" marL="457200" rtl="0" algn="l">
              <a:spcBef>
                <a:spcPts val="0"/>
              </a:spcBef>
              <a:spcAft>
                <a:spcPts val="0"/>
              </a:spcAft>
              <a:buClr>
                <a:srgbClr val="469CD4"/>
              </a:buClr>
              <a:buSzPts val="1400"/>
              <a:buFont typeface="Open Sans"/>
              <a:buChar char="●"/>
            </a:pPr>
            <a:r>
              <a:rPr lang="en">
                <a:solidFill>
                  <a:srgbClr val="469CD4"/>
                </a:solidFill>
                <a:latin typeface="Open Sans"/>
                <a:ea typeface="Open Sans"/>
                <a:cs typeface="Open Sans"/>
                <a:sym typeface="Open Sans"/>
              </a:rPr>
              <a:t>STFT uses only 1.7M parameters: 12× fewer than the strongest baseline</a:t>
            </a:r>
            <a:endParaRPr>
              <a:solidFill>
                <a:srgbClr val="469CD4"/>
              </a:solidFill>
              <a:latin typeface="Open Sans"/>
              <a:ea typeface="Open Sans"/>
              <a:cs typeface="Open Sans"/>
              <a:sym typeface="Open Sans"/>
            </a:endParaRPr>
          </a:p>
        </p:txBody>
      </p:sp>
      <p:sp>
        <p:nvSpPr>
          <p:cNvPr id="354" name="Google Shape;354;p36"/>
          <p:cNvSpPr txBox="1"/>
          <p:nvPr/>
        </p:nvSpPr>
        <p:spPr>
          <a:xfrm>
            <a:off x="139700" y="3538813"/>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69CD4"/>
                </a:solidFill>
                <a:latin typeface="Open Sans"/>
                <a:ea typeface="Open Sans"/>
                <a:cs typeface="Open Sans"/>
                <a:sym typeface="Open Sans"/>
              </a:rPr>
              <a:t>Where this matters:</a:t>
            </a:r>
            <a:endParaRPr b="1" sz="1800">
              <a:solidFill>
                <a:srgbClr val="469CD4"/>
              </a:solidFill>
              <a:latin typeface="Open Sans"/>
              <a:ea typeface="Open Sans"/>
              <a:cs typeface="Open Sans"/>
              <a:sym typeface="Open Sans"/>
            </a:endParaRPr>
          </a:p>
        </p:txBody>
      </p:sp>
      <p:sp>
        <p:nvSpPr>
          <p:cNvPr id="355" name="Google Shape;355;p36"/>
          <p:cNvSpPr txBox="1"/>
          <p:nvPr/>
        </p:nvSpPr>
        <p:spPr>
          <a:xfrm>
            <a:off x="0" y="3952894"/>
            <a:ext cx="50841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Battery-powered spectrum sensors monitoring buildings 24/7</a:t>
            </a:r>
            <a:endParaRPr sz="1200">
              <a:solidFill>
                <a:srgbClr val="469CD4"/>
              </a:solidFill>
              <a:latin typeface="Open Sans"/>
              <a:ea typeface="Open Sans"/>
              <a:cs typeface="Open Sans"/>
              <a:sym typeface="Open Sans"/>
            </a:endParaRPr>
          </a:p>
          <a:p>
            <a:pPr indent="-304800" lvl="0" marL="457200" rtl="0" algn="l">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Drone-mounted radio scanners with power constraints</a:t>
            </a:r>
            <a:endParaRPr sz="1200">
              <a:solidFill>
                <a:srgbClr val="469CD4"/>
              </a:solidFill>
              <a:latin typeface="Open Sans"/>
              <a:ea typeface="Open Sans"/>
              <a:cs typeface="Open Sans"/>
              <a:sym typeface="Open Sans"/>
            </a:endParaRPr>
          </a:p>
          <a:p>
            <a:pPr indent="-304800" lvl="0" marL="457200" rtl="0" algn="l">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Edge devices doing real-time interference detection</a:t>
            </a:r>
            <a:endParaRPr sz="1200">
              <a:solidFill>
                <a:srgbClr val="469CD4"/>
              </a:solidFill>
              <a:latin typeface="Open Sans"/>
              <a:ea typeface="Open Sans"/>
              <a:cs typeface="Open Sans"/>
              <a:sym typeface="Open Sans"/>
            </a:endParaRPr>
          </a:p>
          <a:p>
            <a:pPr indent="-304800" lvl="0" marL="457200" rtl="0" algn="l">
              <a:spcBef>
                <a:spcPts val="0"/>
              </a:spcBef>
              <a:spcAft>
                <a:spcPts val="0"/>
              </a:spcAft>
              <a:buClr>
                <a:srgbClr val="469CD4"/>
              </a:buClr>
              <a:buSzPts val="1200"/>
              <a:buFont typeface="Open Sans"/>
              <a:buChar char="●"/>
            </a:pPr>
            <a:r>
              <a:rPr lang="en" sz="1200">
                <a:solidFill>
                  <a:srgbClr val="469CD4"/>
                </a:solidFill>
                <a:latin typeface="Open Sans"/>
                <a:ea typeface="Open Sans"/>
                <a:cs typeface="Open Sans"/>
                <a:sym typeface="Open Sans"/>
              </a:rPr>
              <a:t>Any RF classification system running on cheap hardware</a:t>
            </a:r>
            <a:endParaRPr sz="1200">
              <a:solidFill>
                <a:srgbClr val="469CD4"/>
              </a:solidFill>
              <a:latin typeface="Open Sans"/>
              <a:ea typeface="Open Sans"/>
              <a:cs typeface="Open Sans"/>
              <a:sym typeface="Open Sans"/>
            </a:endParaRPr>
          </a:p>
        </p:txBody>
      </p:sp>
      <p:pic>
        <p:nvPicPr>
          <p:cNvPr id="356" name="Google Shape;356;p36"/>
          <p:cNvPicPr preferRelativeResize="0"/>
          <p:nvPr/>
        </p:nvPicPr>
        <p:blipFill>
          <a:blip r:embed="rId4">
            <a:alphaModFix/>
          </a:blip>
          <a:stretch>
            <a:fillRect/>
          </a:stretch>
        </p:blipFill>
        <p:spPr>
          <a:xfrm>
            <a:off x="5084099" y="3045825"/>
            <a:ext cx="4023902" cy="20119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62" name="Google Shape;362;p37"/>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Conclusion</a:t>
            </a:r>
            <a:endParaRPr b="1" sz="3300">
              <a:solidFill>
                <a:schemeClr val="lt1"/>
              </a:solidFill>
              <a:latin typeface="Open Sans"/>
              <a:ea typeface="Open Sans"/>
              <a:cs typeface="Open Sans"/>
              <a:sym typeface="Open Sans"/>
            </a:endParaRPr>
          </a:p>
        </p:txBody>
      </p:sp>
      <p:sp>
        <p:nvSpPr>
          <p:cNvPr id="363" name="Google Shape;363;p37"/>
          <p:cNvSpPr txBox="1"/>
          <p:nvPr/>
        </p:nvSpPr>
        <p:spPr>
          <a:xfrm>
            <a:off x="199250" y="1174600"/>
            <a:ext cx="6527700" cy="11436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1200"/>
              </a:spcAft>
              <a:buNone/>
            </a:pPr>
            <a:r>
              <a:rPr b="1" lang="en">
                <a:solidFill>
                  <a:srgbClr val="469CD4"/>
                </a:solidFill>
                <a:latin typeface="Open Sans"/>
                <a:ea typeface="Open Sans"/>
                <a:cs typeface="Open Sans"/>
                <a:sym typeface="Open Sans"/>
              </a:rPr>
              <a:t>The 8.8 percentage point VHT improvement is statistically significant at p=0.013. The STFT result sits 4.84 standard deviations above the raw-signal cluster. Genuine outlier confirmed by bootstrap resampling across 10,000 iterations.</a:t>
            </a:r>
            <a:endParaRPr b="1">
              <a:solidFill>
                <a:srgbClr val="469CD4"/>
              </a:solidFill>
              <a:latin typeface="Open Sans"/>
              <a:ea typeface="Open Sans"/>
              <a:cs typeface="Open Sans"/>
              <a:sym typeface="Open Sans"/>
            </a:endParaRPr>
          </a:p>
        </p:txBody>
      </p:sp>
      <p:pic>
        <p:nvPicPr>
          <p:cNvPr id="364" name="Google Shape;364;p37"/>
          <p:cNvPicPr preferRelativeResize="0"/>
          <p:nvPr/>
        </p:nvPicPr>
        <p:blipFill>
          <a:blip r:embed="rId3">
            <a:alphaModFix/>
          </a:blip>
          <a:stretch>
            <a:fillRect/>
          </a:stretch>
        </p:blipFill>
        <p:spPr>
          <a:xfrm>
            <a:off x="284700" y="2332325"/>
            <a:ext cx="3496150" cy="650148"/>
          </a:xfrm>
          <a:prstGeom prst="rect">
            <a:avLst/>
          </a:prstGeom>
          <a:noFill/>
          <a:ln>
            <a:noFill/>
          </a:ln>
        </p:spPr>
      </p:pic>
      <p:pic>
        <p:nvPicPr>
          <p:cNvPr id="365" name="Google Shape;365;p37"/>
          <p:cNvPicPr preferRelativeResize="0"/>
          <p:nvPr/>
        </p:nvPicPr>
        <p:blipFill>
          <a:blip r:embed="rId4">
            <a:alphaModFix/>
          </a:blip>
          <a:stretch>
            <a:fillRect/>
          </a:stretch>
        </p:blipFill>
        <p:spPr>
          <a:xfrm>
            <a:off x="284700" y="3128437"/>
            <a:ext cx="3496149" cy="463534"/>
          </a:xfrm>
          <a:prstGeom prst="rect">
            <a:avLst/>
          </a:prstGeom>
          <a:noFill/>
          <a:ln>
            <a:noFill/>
          </a:ln>
        </p:spPr>
      </p:pic>
      <p:pic>
        <p:nvPicPr>
          <p:cNvPr id="366" name="Google Shape;366;p37"/>
          <p:cNvPicPr preferRelativeResize="0"/>
          <p:nvPr/>
        </p:nvPicPr>
        <p:blipFill>
          <a:blip r:embed="rId5">
            <a:alphaModFix/>
          </a:blip>
          <a:stretch>
            <a:fillRect/>
          </a:stretch>
        </p:blipFill>
        <p:spPr>
          <a:xfrm>
            <a:off x="284700" y="3671686"/>
            <a:ext cx="3496149" cy="280352"/>
          </a:xfrm>
          <a:prstGeom prst="rect">
            <a:avLst/>
          </a:prstGeom>
          <a:noFill/>
          <a:ln>
            <a:noFill/>
          </a:ln>
        </p:spPr>
      </p:pic>
      <p:pic>
        <p:nvPicPr>
          <p:cNvPr id="367" name="Google Shape;367;p37"/>
          <p:cNvPicPr preferRelativeResize="0"/>
          <p:nvPr/>
        </p:nvPicPr>
        <p:blipFill>
          <a:blip r:embed="rId6">
            <a:alphaModFix/>
          </a:blip>
          <a:stretch>
            <a:fillRect/>
          </a:stretch>
        </p:blipFill>
        <p:spPr>
          <a:xfrm>
            <a:off x="284700" y="4124175"/>
            <a:ext cx="3280399" cy="280375"/>
          </a:xfrm>
          <a:prstGeom prst="rect">
            <a:avLst/>
          </a:prstGeom>
          <a:noFill/>
          <a:ln>
            <a:noFill/>
          </a:ln>
        </p:spPr>
      </p:pic>
      <p:pic>
        <p:nvPicPr>
          <p:cNvPr id="368" name="Google Shape;368;p37"/>
          <p:cNvPicPr preferRelativeResize="0"/>
          <p:nvPr/>
        </p:nvPicPr>
        <p:blipFill>
          <a:blip r:embed="rId7">
            <a:alphaModFix/>
          </a:blip>
          <a:stretch>
            <a:fillRect/>
          </a:stretch>
        </p:blipFill>
        <p:spPr>
          <a:xfrm>
            <a:off x="3733132" y="4152627"/>
            <a:ext cx="3016101" cy="280375"/>
          </a:xfrm>
          <a:prstGeom prst="rect">
            <a:avLst/>
          </a:prstGeom>
          <a:noFill/>
          <a:ln>
            <a:noFill/>
          </a:ln>
        </p:spPr>
      </p:pic>
      <p:pic>
        <p:nvPicPr>
          <p:cNvPr id="369" name="Google Shape;369;p37"/>
          <p:cNvPicPr preferRelativeResize="0"/>
          <p:nvPr/>
        </p:nvPicPr>
        <p:blipFill>
          <a:blip r:embed="rId8">
            <a:alphaModFix/>
          </a:blip>
          <a:stretch>
            <a:fillRect/>
          </a:stretch>
        </p:blipFill>
        <p:spPr>
          <a:xfrm>
            <a:off x="284700" y="4576675"/>
            <a:ext cx="2265910" cy="215800"/>
          </a:xfrm>
          <a:prstGeom prst="rect">
            <a:avLst/>
          </a:prstGeom>
          <a:noFill/>
          <a:ln>
            <a:noFill/>
          </a:ln>
        </p:spPr>
      </p:pic>
      <p:sp>
        <p:nvSpPr>
          <p:cNvPr id="370" name="Google Shape;370;p37"/>
          <p:cNvSpPr txBox="1"/>
          <p:nvPr/>
        </p:nvSpPr>
        <p:spPr>
          <a:xfrm>
            <a:off x="4110100" y="2316688"/>
            <a:ext cx="47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The improvement is too large to be random</a:t>
            </a:r>
            <a:endParaRPr>
              <a:solidFill>
                <a:srgbClr val="469CD4"/>
              </a:solidFill>
              <a:latin typeface="Open Sans"/>
              <a:ea typeface="Open Sans"/>
              <a:cs typeface="Open Sans"/>
              <a:sym typeface="Open Sans"/>
            </a:endParaRPr>
          </a:p>
        </p:txBody>
      </p:sp>
      <p:sp>
        <p:nvSpPr>
          <p:cNvPr id="371" name="Google Shape;371;p37"/>
          <p:cNvSpPr txBox="1"/>
          <p:nvPr/>
        </p:nvSpPr>
        <p:spPr>
          <a:xfrm>
            <a:off x="4110100" y="2927600"/>
            <a:ext cx="495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STFT sits nearly 5 standard deviations above every other method</a:t>
            </a:r>
            <a:endParaRPr/>
          </a:p>
        </p:txBody>
      </p:sp>
      <p:sp>
        <p:nvSpPr>
          <p:cNvPr id="372" name="Google Shape;372;p37"/>
          <p:cNvSpPr txBox="1"/>
          <p:nvPr/>
        </p:nvSpPr>
        <p:spPr>
          <a:xfrm>
            <a:off x="4110100" y="3595608"/>
            <a:ext cx="471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69CD4"/>
                </a:solidFill>
                <a:latin typeface="Open Sans"/>
                <a:ea typeface="Open Sans"/>
                <a:cs typeface="Open Sans"/>
                <a:sym typeface="Open Sans"/>
              </a:rPr>
              <a:t>Effect size confirms the gap is real, not marginal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8"/>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78" name="Google Shape;378;p38"/>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Conclusion</a:t>
            </a:r>
            <a:endParaRPr b="1" sz="3300">
              <a:solidFill>
                <a:schemeClr val="lt1"/>
              </a:solidFill>
              <a:latin typeface="Open Sans"/>
              <a:ea typeface="Open Sans"/>
              <a:cs typeface="Open Sans"/>
              <a:sym typeface="Open Sans"/>
            </a:endParaRPr>
          </a:p>
        </p:txBody>
      </p:sp>
      <p:pic>
        <p:nvPicPr>
          <p:cNvPr id="379" name="Google Shape;379;p38"/>
          <p:cNvPicPr preferRelativeResize="0"/>
          <p:nvPr/>
        </p:nvPicPr>
        <p:blipFill rotWithShape="1">
          <a:blip r:embed="rId3">
            <a:alphaModFix/>
          </a:blip>
          <a:srcRect b="0" l="0" r="67290" t="8029"/>
          <a:stretch/>
        </p:blipFill>
        <p:spPr>
          <a:xfrm>
            <a:off x="6897925" y="1174597"/>
            <a:ext cx="2105474" cy="2061526"/>
          </a:xfrm>
          <a:prstGeom prst="rect">
            <a:avLst/>
          </a:prstGeom>
          <a:noFill/>
          <a:ln>
            <a:noFill/>
          </a:ln>
        </p:spPr>
      </p:pic>
      <p:pic>
        <p:nvPicPr>
          <p:cNvPr id="380" name="Google Shape;380;p38"/>
          <p:cNvPicPr preferRelativeResize="0"/>
          <p:nvPr/>
        </p:nvPicPr>
        <p:blipFill rotWithShape="1">
          <a:blip r:embed="rId3">
            <a:alphaModFix/>
          </a:blip>
          <a:srcRect b="0" l="33693" r="30249" t="8617"/>
          <a:stretch/>
        </p:blipFill>
        <p:spPr>
          <a:xfrm>
            <a:off x="6959600" y="3208897"/>
            <a:ext cx="2105474" cy="1858278"/>
          </a:xfrm>
          <a:prstGeom prst="rect">
            <a:avLst/>
          </a:prstGeom>
          <a:noFill/>
          <a:ln>
            <a:noFill/>
          </a:ln>
        </p:spPr>
      </p:pic>
      <p:sp>
        <p:nvSpPr>
          <p:cNvPr id="381" name="Google Shape;381;p38"/>
          <p:cNvSpPr txBox="1"/>
          <p:nvPr/>
        </p:nvSpPr>
        <p:spPr>
          <a:xfrm>
            <a:off x="139700" y="1210135"/>
            <a:ext cx="6683100" cy="394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69CD4"/>
                </a:solidFill>
                <a:latin typeface="Open Sans"/>
                <a:ea typeface="Open Sans"/>
                <a:cs typeface="Open Sans"/>
                <a:sym typeface="Open Sans"/>
              </a:rPr>
              <a:t>Class Imbalance:</a:t>
            </a:r>
            <a:endParaRPr b="1">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latin typeface="Open Sans"/>
                <a:ea typeface="Open Sans"/>
                <a:cs typeface="Open Sans"/>
                <a:sym typeface="Open Sans"/>
              </a:rPr>
              <a:t>86.9% of our dataset is Non-HT. A model that never learns anything still scores 86.9% overall so we weighted rare classes heavily and report per-class accuracy instead.</a:t>
            </a:r>
            <a:endParaRPr>
              <a:solidFill>
                <a:srgbClr val="469CD4"/>
              </a:solidFill>
              <a:latin typeface="Open Sans"/>
              <a:ea typeface="Open Sans"/>
              <a:cs typeface="Open Sans"/>
              <a:sym typeface="Open Sans"/>
            </a:endParaRPr>
          </a:p>
          <a:p>
            <a:pPr indent="0" lvl="0" marL="0" rtl="0" algn="l">
              <a:spcBef>
                <a:spcPts val="0"/>
              </a:spcBef>
              <a:spcAft>
                <a:spcPts val="0"/>
              </a:spcAft>
              <a:buNone/>
            </a:pPr>
            <a:r>
              <a:t/>
            </a:r>
            <a:endParaRPr>
              <a:solidFill>
                <a:srgbClr val="469CD4"/>
              </a:solidFill>
              <a:latin typeface="Open Sans"/>
              <a:ea typeface="Open Sans"/>
              <a:cs typeface="Open Sans"/>
              <a:sym typeface="Open Sans"/>
            </a:endParaRPr>
          </a:p>
          <a:p>
            <a:pPr indent="0" lvl="0" marL="0" rtl="0" algn="l">
              <a:spcBef>
                <a:spcPts val="0"/>
              </a:spcBef>
              <a:spcAft>
                <a:spcPts val="0"/>
              </a:spcAft>
              <a:buNone/>
            </a:pPr>
            <a:r>
              <a:rPr b="1" lang="en">
                <a:solidFill>
                  <a:srgbClr val="469CD4"/>
                </a:solidFill>
                <a:latin typeface="Open Sans"/>
                <a:ea typeface="Open Sans"/>
                <a:cs typeface="Open Sans"/>
                <a:sym typeface="Open Sans"/>
              </a:rPr>
              <a:t>Confusion Matrix:</a:t>
            </a:r>
            <a:endParaRPr b="1">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latin typeface="Open Sans"/>
                <a:ea typeface="Open Sans"/>
                <a:cs typeface="Open Sans"/>
                <a:sym typeface="Open Sans"/>
              </a:rPr>
              <a:t>Our best model misclassifies 33% of VHT frames as Non-HT. This is not random — VHT and Non-HT look the most similar within the surviving frequency band. The confusion tells us exactly where the information loss hurts most.</a:t>
            </a:r>
            <a:endParaRPr>
              <a:solidFill>
                <a:srgbClr val="469CD4"/>
              </a:solidFill>
              <a:latin typeface="Open Sans"/>
              <a:ea typeface="Open Sans"/>
              <a:cs typeface="Open Sans"/>
              <a:sym typeface="Open Sans"/>
            </a:endParaRPr>
          </a:p>
          <a:p>
            <a:pPr indent="0" lvl="0" marL="0" rtl="0" algn="l">
              <a:spcBef>
                <a:spcPts val="0"/>
              </a:spcBef>
              <a:spcAft>
                <a:spcPts val="0"/>
              </a:spcAft>
              <a:buNone/>
            </a:pPr>
            <a:r>
              <a:t/>
            </a:r>
            <a:endParaRPr>
              <a:solidFill>
                <a:srgbClr val="469CD4"/>
              </a:solidFill>
              <a:latin typeface="Open Sans"/>
              <a:ea typeface="Open Sans"/>
              <a:cs typeface="Open Sans"/>
              <a:sym typeface="Open Sans"/>
            </a:endParaRPr>
          </a:p>
          <a:p>
            <a:pPr indent="0" lvl="0" marL="0" rtl="0" algn="l">
              <a:spcBef>
                <a:spcPts val="0"/>
              </a:spcBef>
              <a:spcAft>
                <a:spcPts val="0"/>
              </a:spcAft>
              <a:buNone/>
            </a:pPr>
            <a:r>
              <a:rPr lang="en">
                <a:solidFill>
                  <a:srgbClr val="469CD4"/>
                </a:solidFill>
                <a:latin typeface="Open Sans"/>
                <a:ea typeface="Open Sans"/>
                <a:cs typeface="Open Sans"/>
                <a:sym typeface="Open Sans"/>
              </a:rPr>
              <a:t>The 8.8 point VHT improvement from STFT is statistically significant at p=0.013. STFT sits 4.84 standard deviations above every other method we tested.</a:t>
            </a:r>
            <a:endParaRPr>
              <a:solidFill>
                <a:srgbClr val="469CD4"/>
              </a:solidFill>
              <a:latin typeface="Open Sans"/>
              <a:ea typeface="Open Sans"/>
              <a:cs typeface="Open Sans"/>
              <a:sym typeface="Open Sans"/>
            </a:endParaRPr>
          </a:p>
          <a:p>
            <a:pPr indent="0" lvl="0" marL="0" rtl="0" algn="l">
              <a:spcBef>
                <a:spcPts val="0"/>
              </a:spcBef>
              <a:spcAft>
                <a:spcPts val="0"/>
              </a:spcAft>
              <a:buNone/>
            </a:pPr>
            <a:r>
              <a:t/>
            </a:r>
            <a:endParaRPr>
              <a:solidFill>
                <a:srgbClr val="469CD4"/>
              </a:solidFill>
              <a:latin typeface="Open Sans"/>
              <a:ea typeface="Open Sans"/>
              <a:cs typeface="Open Sans"/>
              <a:sym typeface="Open Sans"/>
            </a:endParaRPr>
          </a:p>
          <a:p>
            <a:pPr indent="0" lvl="0" marL="0" rtl="0" algn="l">
              <a:spcBef>
                <a:spcPts val="0"/>
              </a:spcBef>
              <a:spcAft>
                <a:spcPts val="0"/>
              </a:spcAft>
              <a:buNone/>
            </a:pPr>
            <a:r>
              <a:rPr b="1" lang="en" sz="1600">
                <a:solidFill>
                  <a:srgbClr val="469CD4"/>
                </a:solidFill>
                <a:latin typeface="Open Sans"/>
                <a:ea typeface="Open Sans"/>
                <a:cs typeface="Open Sans"/>
                <a:sym typeface="Open Sans"/>
              </a:rPr>
              <a:t>The raw signal simply could not show what needed to be seen. Changing the representation was the only intervention that worked.</a:t>
            </a:r>
            <a:endParaRPr b="1" sz="1600">
              <a:solidFill>
                <a:srgbClr val="469CD4"/>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9"/>
          <p:cNvSpPr/>
          <p:nvPr/>
        </p:nvSpPr>
        <p:spPr>
          <a:xfrm>
            <a:off x="0" y="0"/>
            <a:ext cx="9144000" cy="1069200"/>
          </a:xfrm>
          <a:prstGeom prst="rect">
            <a:avLst/>
          </a:prstGeom>
          <a:solidFill>
            <a:srgbClr val="469C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87" name="Google Shape;387;p39"/>
          <p:cNvSpPr txBox="1"/>
          <p:nvPr/>
        </p:nvSpPr>
        <p:spPr>
          <a:xfrm>
            <a:off x="139700" y="188250"/>
            <a:ext cx="9144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Open Sans"/>
                <a:ea typeface="Open Sans"/>
                <a:cs typeface="Open Sans"/>
                <a:sym typeface="Open Sans"/>
              </a:rPr>
              <a:t>Future Work</a:t>
            </a:r>
            <a:endParaRPr b="1" sz="3300">
              <a:solidFill>
                <a:schemeClr val="lt1"/>
              </a:solidFill>
              <a:latin typeface="Open Sans"/>
              <a:ea typeface="Open Sans"/>
              <a:cs typeface="Open Sans"/>
              <a:sym typeface="Open Sans"/>
            </a:endParaRPr>
          </a:p>
        </p:txBody>
      </p:sp>
      <p:sp>
        <p:nvSpPr>
          <p:cNvPr id="388" name="Google Shape;388;p39"/>
          <p:cNvSpPr txBox="1"/>
          <p:nvPr/>
        </p:nvSpPr>
        <p:spPr>
          <a:xfrm>
            <a:off x="139700" y="1618700"/>
            <a:ext cx="85182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Sweep hyperparameters for all 21 methods equally and not just STFT</a:t>
            </a:r>
            <a:endParaRPr sz="2000">
              <a:solidFill>
                <a:srgbClr val="469CD4"/>
              </a:solidFill>
              <a:latin typeface="Open Sans Light"/>
              <a:ea typeface="Open Sans Light"/>
              <a:cs typeface="Open Sans Light"/>
              <a:sym typeface="Open Sans Light"/>
            </a:endParaRPr>
          </a:p>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Test at other downsampling factors: 2×, 8×, 16×</a:t>
            </a:r>
            <a:endParaRPr sz="2000">
              <a:solidFill>
                <a:srgbClr val="469CD4"/>
              </a:solidFill>
              <a:latin typeface="Open Sans Light"/>
              <a:ea typeface="Open Sans Light"/>
              <a:cs typeface="Open Sans Light"/>
              <a:sym typeface="Open Sans Light"/>
            </a:endParaRPr>
          </a:p>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Longer observation windows, more samples, finer frequency resolution, no hardware changes</a:t>
            </a:r>
            <a:endParaRPr sz="2000">
              <a:solidFill>
                <a:srgbClr val="469CD4"/>
              </a:solidFill>
              <a:latin typeface="Open Sans Light"/>
              <a:ea typeface="Open Sans Light"/>
              <a:cs typeface="Open Sans Light"/>
              <a:sym typeface="Open Sans Light"/>
            </a:endParaRPr>
          </a:p>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Preamble-aware classification, separate preamble from payload, apply targeted representations</a:t>
            </a:r>
            <a:endParaRPr sz="2000">
              <a:solidFill>
                <a:srgbClr val="469CD4"/>
              </a:solidFill>
              <a:latin typeface="Open Sans Light"/>
              <a:ea typeface="Open Sans Light"/>
              <a:cs typeface="Open Sans Light"/>
              <a:sym typeface="Open Sans Light"/>
            </a:endParaRPr>
          </a:p>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Generalize across hardware platforms, environments, and wireless protocols beyond WiFi</a:t>
            </a:r>
            <a:endParaRPr sz="2000">
              <a:solidFill>
                <a:srgbClr val="469CD4"/>
              </a:solidFill>
              <a:latin typeface="Open Sans Light"/>
              <a:ea typeface="Open Sans Light"/>
              <a:cs typeface="Open Sans Light"/>
              <a:sym typeface="Open Sans Light"/>
            </a:endParaRPr>
          </a:p>
          <a:p>
            <a:pPr indent="-355600" lvl="0" marL="457200" rtl="0" algn="l">
              <a:spcBef>
                <a:spcPts val="0"/>
              </a:spcBef>
              <a:spcAft>
                <a:spcPts val="0"/>
              </a:spcAft>
              <a:buClr>
                <a:srgbClr val="469CD4"/>
              </a:buClr>
              <a:buSzPts val="2000"/>
              <a:buFont typeface="Open Sans Light"/>
              <a:buChar char="●"/>
            </a:pPr>
            <a:r>
              <a:rPr lang="en" sz="2000">
                <a:solidFill>
                  <a:srgbClr val="469CD4"/>
                </a:solidFill>
                <a:latin typeface="Open Sans Light"/>
                <a:ea typeface="Open Sans Light"/>
                <a:cs typeface="Open Sans Light"/>
                <a:sym typeface="Open Sans Light"/>
              </a:rPr>
              <a:t>Multiple training runs to report variance across all methods</a:t>
            </a:r>
            <a:endParaRPr sz="2000">
              <a:solidFill>
                <a:srgbClr val="469CD4"/>
              </a:solidFill>
              <a:latin typeface="Open Sans Light"/>
              <a:ea typeface="Open Sans Light"/>
              <a:cs typeface="Open Sans Light"/>
              <a:sym typeface="Open Sans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0"/>
          <p:cNvSpPr txBox="1"/>
          <p:nvPr/>
        </p:nvSpPr>
        <p:spPr>
          <a:xfrm>
            <a:off x="99250" y="1814125"/>
            <a:ext cx="8945700" cy="283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rgbClr val="469CD4"/>
                </a:solidFill>
                <a:latin typeface="Open Sans"/>
                <a:ea typeface="Open Sans"/>
                <a:cs typeface="Open Sans"/>
                <a:sym typeface="Open Sans"/>
              </a:rPr>
              <a:t>Title: References</a:t>
            </a:r>
            <a:endParaRPr b="1" sz="1300">
              <a:solidFill>
                <a:srgbClr val="469CD4"/>
              </a:solidFill>
              <a:latin typeface="Open Sans"/>
              <a:ea typeface="Open Sans"/>
              <a:cs typeface="Open Sans"/>
              <a:sym typeface="Open Sans"/>
            </a:endParaRPr>
          </a:p>
          <a:p>
            <a:pPr indent="-311150" lvl="0" marL="457200" rtl="0" algn="l">
              <a:lnSpc>
                <a:spcPct val="115000"/>
              </a:lnSpc>
              <a:spcBef>
                <a:spcPts val="120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Bengio et al. — Curriculum Learning. ICML, 2009</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Chen et al. — A Simple Framework for Contrastive Learning. ICML, 2020</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Gao et al. — Swirls: Sniffing Wi-Fi Using Radios with Low Sampling Rates. ACM MobiHoc, 2023</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Gao et al. — DeepMon: WiFi Monitoring Using Sub-Nyquist Sampling Rate Receivers. ACM MobiCom, 2024</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Goodfellow et al. — Generative Adversarial Nets. NeurIPS, 2014</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Hinton et al. — Distilling the Knowledge in a Neural Network. arXiv, 2015</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Ho et al. — Denoising Diffusion Probabilistic Models. NeurIPS, 2020</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McCloskey &amp; Cohen — Catastrophic Interference in Connectionist Networks. 1989</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O'Shea et al. — Convolutional Radio Modulation Recognition Networks. arXiv, 2016</a:t>
            </a:r>
            <a:endParaRPr sz="1300">
              <a:solidFill>
                <a:srgbClr val="469CD4"/>
              </a:solidFill>
              <a:latin typeface="Open Sans"/>
              <a:ea typeface="Open Sans"/>
              <a:cs typeface="Open Sans"/>
              <a:sym typeface="Open Sans"/>
            </a:endParaRPr>
          </a:p>
          <a:p>
            <a:pPr indent="-311150" lvl="0" marL="457200" rtl="0" algn="l">
              <a:lnSpc>
                <a:spcPct val="115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O'Shea et al. — Over-the-Air Deep Learning Based Radio Signal Classification. IEEE JSTSP, 2018</a:t>
            </a:r>
            <a:endParaRPr sz="1300">
              <a:solidFill>
                <a:srgbClr val="469CD4"/>
              </a:solidFill>
              <a:latin typeface="Open Sans"/>
              <a:ea typeface="Open Sans"/>
              <a:cs typeface="Open Sans"/>
              <a:sym typeface="Open Sans"/>
            </a:endParaRPr>
          </a:p>
        </p:txBody>
      </p:sp>
      <p:sp>
        <p:nvSpPr>
          <p:cNvPr id="394" name="Google Shape;394;p40"/>
          <p:cNvSpPr txBox="1"/>
          <p:nvPr/>
        </p:nvSpPr>
        <p:spPr>
          <a:xfrm>
            <a:off x="99250" y="358524"/>
            <a:ext cx="90042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300">
                <a:solidFill>
                  <a:srgbClr val="469CD4"/>
                </a:solidFill>
                <a:latin typeface="Open Sans"/>
                <a:ea typeface="Open Sans"/>
                <a:cs typeface="Open Sans"/>
                <a:sym typeface="Open Sans"/>
              </a:rPr>
              <a:t>Acknowledgements</a:t>
            </a:r>
            <a:endParaRPr b="1" sz="1300">
              <a:solidFill>
                <a:srgbClr val="469CD4"/>
              </a:solidFill>
              <a:latin typeface="Open Sans"/>
              <a:ea typeface="Open Sans"/>
              <a:cs typeface="Open Sans"/>
              <a:sym typeface="Open Sans"/>
            </a:endParaRPr>
          </a:p>
          <a:p>
            <a:pPr indent="0" lvl="0" marL="0" marR="0" rtl="0" algn="l">
              <a:lnSpc>
                <a:spcPct val="100000"/>
              </a:lnSpc>
              <a:spcBef>
                <a:spcPts val="0"/>
              </a:spcBef>
              <a:spcAft>
                <a:spcPts val="0"/>
              </a:spcAft>
              <a:buNone/>
            </a:pPr>
            <a:r>
              <a:t/>
            </a:r>
            <a:endParaRPr b="1" sz="1300">
              <a:solidFill>
                <a:srgbClr val="469CD4"/>
              </a:solidFill>
              <a:latin typeface="Open Sans"/>
              <a:ea typeface="Open Sans"/>
              <a:cs typeface="Open Sans"/>
              <a:sym typeface="Open Sans"/>
            </a:endParaRPr>
          </a:p>
          <a:p>
            <a:pPr indent="-311150" lvl="0" marL="457200" marR="0" rtl="0" algn="l">
              <a:lnSpc>
                <a:spcPct val="100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Professor Jingping Nie - University of North Carolina at Chapel Hill: mentorship, and computational resources</a:t>
            </a:r>
            <a:endParaRPr sz="1300">
              <a:solidFill>
                <a:srgbClr val="469CD4"/>
              </a:solidFill>
              <a:latin typeface="Open Sans"/>
              <a:ea typeface="Open Sans"/>
              <a:cs typeface="Open Sans"/>
              <a:sym typeface="Open Sans"/>
            </a:endParaRPr>
          </a:p>
          <a:p>
            <a:pPr indent="-311150" lvl="0" marL="457200" marR="0" rtl="0" algn="l">
              <a:lnSpc>
                <a:spcPct val="100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Dr. Zhihui Gao - Duke University: provided the dataset and technical context for the wireless signal domain</a:t>
            </a:r>
            <a:endParaRPr sz="1300">
              <a:solidFill>
                <a:srgbClr val="469CD4"/>
              </a:solidFill>
              <a:latin typeface="Open Sans"/>
              <a:ea typeface="Open Sans"/>
              <a:cs typeface="Open Sans"/>
              <a:sym typeface="Open Sans"/>
            </a:endParaRPr>
          </a:p>
          <a:p>
            <a:pPr indent="-311150" lvl="0" marL="457200" marR="0" rtl="0" algn="l">
              <a:lnSpc>
                <a:spcPct val="100000"/>
              </a:lnSpc>
              <a:spcBef>
                <a:spcPts val="0"/>
              </a:spcBef>
              <a:spcAft>
                <a:spcPts val="0"/>
              </a:spcAft>
              <a:buClr>
                <a:srgbClr val="469CD4"/>
              </a:buClr>
              <a:buSzPts val="1300"/>
              <a:buFont typeface="Open Sans"/>
              <a:buChar char="●"/>
            </a:pPr>
            <a:r>
              <a:rPr lang="en" sz="1300">
                <a:solidFill>
                  <a:srgbClr val="469CD4"/>
                </a:solidFill>
                <a:latin typeface="Open Sans"/>
                <a:ea typeface="Open Sans"/>
                <a:cs typeface="Open Sans"/>
                <a:sym typeface="Open Sans"/>
              </a:rPr>
              <a:t>Professor James Stephen Marron - University of North Carolina at Chapel Hill — broader research guidance and support</a:t>
            </a:r>
            <a:endParaRPr sz="1300">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