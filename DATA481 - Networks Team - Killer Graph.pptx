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8e50b361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8e50b361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8e50b361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8e50b361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8e50b361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8e50b361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8e50b361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8e50b361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8275d5ce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8275d5ce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Graph 1:</a:t>
            </a:r>
            <a:endParaRPr/>
          </a:p>
          <a:p>
            <a:pPr indent="-298450" lvl="0" marL="457200" rtl="0" algn="l">
              <a:spcBef>
                <a:spcPts val="0"/>
              </a:spcBef>
              <a:spcAft>
                <a:spcPts val="0"/>
              </a:spcAft>
              <a:buSzPts val="1100"/>
              <a:buChar char="-"/>
            </a:pPr>
            <a:r>
              <a:rPr lang="en"/>
              <a:t>Gas prices seem to fluctuate at the same rate and move very closely together</a:t>
            </a:r>
            <a:endParaRPr/>
          </a:p>
          <a:p>
            <a:pPr indent="-298450" lvl="1" marL="914400" rtl="0" algn="l">
              <a:spcBef>
                <a:spcPts val="0"/>
              </a:spcBef>
              <a:spcAft>
                <a:spcPts val="0"/>
              </a:spcAft>
              <a:buSzPts val="1100"/>
              <a:buChar char="-"/>
            </a:pPr>
            <a:r>
              <a:rPr lang="en"/>
              <a:t>Shows that gasoline prices are influenced by the same market </a:t>
            </a:r>
            <a:r>
              <a:rPr lang="en"/>
              <a:t>factors (crude oil for example), regardless of fuel grade</a:t>
            </a:r>
            <a:endParaRPr/>
          </a:p>
          <a:p>
            <a:pPr indent="-298450" lvl="1" marL="914400" rtl="0" algn="l">
              <a:spcBef>
                <a:spcPts val="0"/>
              </a:spcBef>
              <a:spcAft>
                <a:spcPts val="0"/>
              </a:spcAft>
              <a:buSzPts val="1100"/>
              <a:buChar char="-"/>
            </a:pPr>
            <a:r>
              <a:rPr lang="en"/>
              <a:t>Also purchased at almost equal quantities (demand for each fuel grade is about the same)</a:t>
            </a:r>
            <a:endParaRPr/>
          </a:p>
          <a:p>
            <a:pPr indent="-298450" lvl="0" marL="457200" rtl="0" algn="l">
              <a:spcBef>
                <a:spcPts val="0"/>
              </a:spcBef>
              <a:spcAft>
                <a:spcPts val="0"/>
              </a:spcAft>
              <a:buSzPts val="1100"/>
              <a:buChar char="-"/>
            </a:pPr>
            <a:r>
              <a:rPr lang="en"/>
              <a:t>You’ll notice a few major spikes in gas prices (just before 2010 and around 2021-2022)</a:t>
            </a:r>
            <a:endParaRPr/>
          </a:p>
          <a:p>
            <a:pPr indent="-298450" lvl="1" marL="914400" rtl="0" algn="l">
              <a:spcBef>
                <a:spcPts val="0"/>
              </a:spcBef>
              <a:spcAft>
                <a:spcPts val="0"/>
              </a:spcAft>
              <a:buSzPts val="1100"/>
              <a:buChar char="-"/>
            </a:pPr>
            <a:r>
              <a:rPr lang="en"/>
              <a:t>Correlates to major economic events, specifically the Great Recession/COVID-19 pandemic</a:t>
            </a:r>
            <a:endParaRPr/>
          </a:p>
          <a:p>
            <a:pPr indent="-298450" lvl="1" marL="914400" rtl="0" algn="l">
              <a:spcBef>
                <a:spcPts val="0"/>
              </a:spcBef>
              <a:spcAft>
                <a:spcPts val="0"/>
              </a:spcAft>
              <a:buSzPts val="1100"/>
              <a:buChar char="-"/>
            </a:pPr>
            <a:r>
              <a:rPr lang="en"/>
              <a:t>Gas prices were inflated around then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8275d5ce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8275d5ce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Comparison of gas price trends based on formulation: </a:t>
            </a:r>
            <a:endParaRPr/>
          </a:p>
          <a:p>
            <a:pPr indent="-298450" lvl="0" marL="457200" rtl="0" algn="l">
              <a:spcBef>
                <a:spcPts val="0"/>
              </a:spcBef>
              <a:spcAft>
                <a:spcPts val="0"/>
              </a:spcAft>
              <a:buSzPts val="1100"/>
              <a:buChar char="-"/>
            </a:pPr>
            <a:r>
              <a:rPr lang="en"/>
              <a:t>All types of formulation seems to have similar increasing trends over the years with peaks at 2008 and 2021, due to the market collapse and the pandemic</a:t>
            </a:r>
            <a:endParaRPr/>
          </a:p>
          <a:p>
            <a:pPr indent="-298450" lvl="0" marL="457200" rtl="0" algn="l">
              <a:spcBef>
                <a:spcPts val="0"/>
              </a:spcBef>
              <a:spcAft>
                <a:spcPts val="0"/>
              </a:spcAft>
              <a:buSzPts val="1100"/>
              <a:buChar char="-"/>
            </a:pPr>
            <a:r>
              <a:rPr lang="en"/>
              <a:t>Its clear that regarding grade, premium is the most expensive followed by midgrade and regular, and that reformulated gas is more expensive than conventional gas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8275d5ce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8275d5ce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8275d5ce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8275d5ce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8275d5ce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8275d5ce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8275d5ce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8275d5ce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top panel</a:t>
            </a:r>
            <a:r>
              <a:rPr lang="en">
                <a:solidFill>
                  <a:schemeClr val="dk1"/>
                </a:solidFill>
              </a:rPr>
              <a:t> shows the long-term price behavior. The shaded band represents the range of prices across different gasoline formulations each week. The thin line shows the typical weekly price, and the thicker line smooths that series to reveal the overall trend. This panel shows that prices generally move gradually over time, but the spread between formulations widens during periods of instability.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bottom panel</a:t>
            </a:r>
            <a:r>
              <a:rPr lang="en">
                <a:solidFill>
                  <a:schemeClr val="dk1"/>
                </a:solidFill>
              </a:rPr>
              <a:t> focuses on abnormal behavior. It removes the long-term trend and the usual seasonal pattern and highlights weeks when prices were unusually high or low compared to what is normally expected for that time of year. Red areas indicate unusually high prices, while blue areas indicate unusually low prices.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Together, the panels show that gasoline prices are driven by two forces: a slow, long-run trend and short, sharp shocks. Most of the dramatic price changes people remember come from these shock periods rather than from gradual price movements.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8275d5ce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8275d5ce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title slide for weekly us gas prices" id="54" name="Google Shape;54;p1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make it simpler" id="59" name="Google Shape;59;p1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make this slide good" id="64" name="Google Shape;64;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Beautify this slide" id="69" name="Google Shape;69;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2E9"/>
        </a:soli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311700" y="445025"/>
            <a:ext cx="111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Mihir</a:t>
            </a:r>
            <a:endParaRPr>
              <a:latin typeface="Georgia"/>
              <a:ea typeface="Georgia"/>
              <a:cs typeface="Georgia"/>
              <a:sym typeface="Georgia"/>
            </a:endParaRPr>
          </a:p>
        </p:txBody>
      </p:sp>
      <p:pic>
        <p:nvPicPr>
          <p:cNvPr id="75" name="Google Shape;75;p17"/>
          <p:cNvPicPr preferRelativeResize="0"/>
          <p:nvPr/>
        </p:nvPicPr>
        <p:blipFill>
          <a:blip r:embed="rId3">
            <a:alphaModFix/>
          </a:blip>
          <a:stretch>
            <a:fillRect/>
          </a:stretch>
        </p:blipFill>
        <p:spPr>
          <a:xfrm>
            <a:off x="97900" y="1436475"/>
            <a:ext cx="4945826" cy="3054500"/>
          </a:xfrm>
          <a:prstGeom prst="rect">
            <a:avLst/>
          </a:prstGeom>
          <a:noFill/>
          <a:ln>
            <a:noFill/>
          </a:ln>
        </p:spPr>
      </p:pic>
      <p:pic>
        <p:nvPicPr>
          <p:cNvPr id="76" name="Google Shape;76;p17"/>
          <p:cNvPicPr preferRelativeResize="0"/>
          <p:nvPr/>
        </p:nvPicPr>
        <p:blipFill>
          <a:blip r:embed="rId4">
            <a:alphaModFix/>
          </a:blip>
          <a:stretch>
            <a:fillRect/>
          </a:stretch>
        </p:blipFill>
        <p:spPr>
          <a:xfrm>
            <a:off x="5134050" y="146925"/>
            <a:ext cx="3961525" cy="2362900"/>
          </a:xfrm>
          <a:prstGeom prst="rect">
            <a:avLst/>
          </a:prstGeom>
          <a:noFill/>
          <a:ln>
            <a:noFill/>
          </a:ln>
        </p:spPr>
      </p:pic>
      <p:pic>
        <p:nvPicPr>
          <p:cNvPr id="77" name="Google Shape;77;p17"/>
          <p:cNvPicPr preferRelativeResize="0"/>
          <p:nvPr/>
        </p:nvPicPr>
        <p:blipFill>
          <a:blip r:embed="rId5">
            <a:alphaModFix/>
          </a:blip>
          <a:stretch>
            <a:fillRect/>
          </a:stretch>
        </p:blipFill>
        <p:spPr>
          <a:xfrm>
            <a:off x="5134050" y="2571762"/>
            <a:ext cx="3961525" cy="24465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2E9"/>
        </a:solidFill>
      </p:bgPr>
    </p:bg>
    <p:spTree>
      <p:nvGrpSpPr>
        <p:cNvPr id="81" name="Shape 81"/>
        <p:cNvGrpSpPr/>
        <p:nvPr/>
      </p:nvGrpSpPr>
      <p:grpSpPr>
        <a:xfrm>
          <a:off x="0" y="0"/>
          <a:ext cx="0" cy="0"/>
          <a:chOff x="0" y="0"/>
          <a:chExt cx="0" cy="0"/>
        </a:xfrm>
      </p:grpSpPr>
      <p:sp>
        <p:nvSpPr>
          <p:cNvPr id="82" name="Google Shape;82;p18"/>
          <p:cNvSpPr txBox="1"/>
          <p:nvPr>
            <p:ph type="title"/>
          </p:nvPr>
        </p:nvSpPr>
        <p:spPr>
          <a:xfrm>
            <a:off x="13117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T</a:t>
            </a:r>
            <a:r>
              <a:rPr lang="en">
                <a:latin typeface="Georgia"/>
                <a:ea typeface="Georgia"/>
                <a:cs typeface="Georgia"/>
                <a:sym typeface="Georgia"/>
              </a:rPr>
              <a:t>eju</a:t>
            </a:r>
            <a:endParaRPr>
              <a:latin typeface="Georgia"/>
              <a:ea typeface="Georgia"/>
              <a:cs typeface="Georgia"/>
              <a:sym typeface="Georgia"/>
            </a:endParaRPr>
          </a:p>
        </p:txBody>
      </p:sp>
      <p:pic>
        <p:nvPicPr>
          <p:cNvPr id="83" name="Google Shape;83;p18"/>
          <p:cNvPicPr preferRelativeResize="0"/>
          <p:nvPr/>
        </p:nvPicPr>
        <p:blipFill>
          <a:blip r:embed="rId3">
            <a:alphaModFix/>
          </a:blip>
          <a:stretch>
            <a:fillRect/>
          </a:stretch>
        </p:blipFill>
        <p:spPr>
          <a:xfrm>
            <a:off x="836426" y="360450"/>
            <a:ext cx="7815350" cy="46588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2E9"/>
        </a:solidFill>
      </p:bgPr>
    </p:bg>
    <p:spTree>
      <p:nvGrpSpPr>
        <p:cNvPr id="87" name="Shape 87"/>
        <p:cNvGrpSpPr/>
        <p:nvPr/>
      </p:nvGrpSpPr>
      <p:grpSpPr>
        <a:xfrm>
          <a:off x="0" y="0"/>
          <a:ext cx="0" cy="0"/>
          <a:chOff x="0" y="0"/>
          <a:chExt cx="0" cy="0"/>
        </a:xfrm>
      </p:grpSpPr>
      <p:sp>
        <p:nvSpPr>
          <p:cNvPr id="88" name="Google Shape;88;p19"/>
          <p:cNvSpPr txBox="1"/>
          <p:nvPr>
            <p:ph type="title"/>
          </p:nvPr>
        </p:nvSpPr>
        <p:spPr>
          <a:xfrm>
            <a:off x="95450" y="110400"/>
            <a:ext cx="1952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Daniel</a:t>
            </a:r>
            <a:endParaRPr>
              <a:latin typeface="Georgia"/>
              <a:ea typeface="Georgia"/>
              <a:cs typeface="Georgia"/>
              <a:sym typeface="Georgia"/>
            </a:endParaRPr>
          </a:p>
        </p:txBody>
      </p:sp>
      <p:pic>
        <p:nvPicPr>
          <p:cNvPr id="89" name="Google Shape;89;p19" title="price trend.png"/>
          <p:cNvPicPr preferRelativeResize="0"/>
          <p:nvPr/>
        </p:nvPicPr>
        <p:blipFill>
          <a:blip r:embed="rId3">
            <a:alphaModFix/>
          </a:blip>
          <a:stretch>
            <a:fillRect/>
          </a:stretch>
        </p:blipFill>
        <p:spPr>
          <a:xfrm>
            <a:off x="527925" y="629750"/>
            <a:ext cx="4044075" cy="2498656"/>
          </a:xfrm>
          <a:prstGeom prst="rect">
            <a:avLst/>
          </a:prstGeom>
          <a:noFill/>
          <a:ln>
            <a:noFill/>
          </a:ln>
        </p:spPr>
      </p:pic>
      <p:pic>
        <p:nvPicPr>
          <p:cNvPr id="90" name="Google Shape;90;p19" title="gasoline.png"/>
          <p:cNvPicPr preferRelativeResize="0"/>
          <p:nvPr/>
        </p:nvPicPr>
        <p:blipFill>
          <a:blip r:embed="rId4">
            <a:alphaModFix/>
          </a:blip>
          <a:stretch>
            <a:fillRect/>
          </a:stretch>
        </p:blipFill>
        <p:spPr>
          <a:xfrm>
            <a:off x="4820525" y="73113"/>
            <a:ext cx="4044075" cy="2498639"/>
          </a:xfrm>
          <a:prstGeom prst="rect">
            <a:avLst/>
          </a:prstGeom>
          <a:noFill/>
          <a:ln>
            <a:noFill/>
          </a:ln>
        </p:spPr>
      </p:pic>
      <p:pic>
        <p:nvPicPr>
          <p:cNvPr id="91" name="Google Shape;91;p19" title="diesel.png"/>
          <p:cNvPicPr preferRelativeResize="0"/>
          <p:nvPr/>
        </p:nvPicPr>
        <p:blipFill>
          <a:blip r:embed="rId5">
            <a:alphaModFix/>
          </a:blip>
          <a:stretch>
            <a:fillRect/>
          </a:stretch>
        </p:blipFill>
        <p:spPr>
          <a:xfrm>
            <a:off x="4820537" y="2571763"/>
            <a:ext cx="4044051" cy="2498635"/>
          </a:xfrm>
          <a:prstGeom prst="rect">
            <a:avLst/>
          </a:prstGeom>
          <a:noFill/>
          <a:ln>
            <a:noFill/>
          </a:ln>
        </p:spPr>
      </p:pic>
      <p:sp>
        <p:nvSpPr>
          <p:cNvPr id="92" name="Google Shape;92;p19"/>
          <p:cNvSpPr txBox="1"/>
          <p:nvPr/>
        </p:nvSpPr>
        <p:spPr>
          <a:xfrm>
            <a:off x="95450" y="3197000"/>
            <a:ext cx="4610100" cy="1854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Price volatility, how unstable fuel prices are over time</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Each point summarizes fluctuation over past 3 months</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Gasoline, several volatility spikes sharply around 2008 and again in the early 2020s</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Diesel,  generally shows lower and smoother volatility, especially during 2008</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Diesel prices are more stable and inelastic, likely because diesel demand is tied to transportation and industrial use that can not easily adjust in short term</a:t>
            </a:r>
            <a:endParaRPr sz="1200">
              <a:solidFill>
                <a:schemeClr val="dk1"/>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2E9"/>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Muhammadali </a:t>
            </a:r>
            <a:endParaRPr>
              <a:latin typeface="Georgia"/>
              <a:ea typeface="Georgia"/>
              <a:cs typeface="Georgia"/>
              <a:sym typeface="Georgia"/>
            </a:endParaRPr>
          </a:p>
        </p:txBody>
      </p:sp>
      <p:sp>
        <p:nvSpPr>
          <p:cNvPr id="98" name="Google Shape;98;p20"/>
          <p:cNvSpPr txBox="1"/>
          <p:nvPr>
            <p:ph idx="1" type="body"/>
          </p:nvPr>
        </p:nvSpPr>
        <p:spPr>
          <a:xfrm>
            <a:off x="40675" y="1152475"/>
            <a:ext cx="3427500" cy="3011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Georgia"/>
              <a:buChar char="-"/>
            </a:pPr>
            <a:r>
              <a:rPr lang="en">
                <a:solidFill>
                  <a:schemeClr val="dk1"/>
                </a:solidFill>
                <a:latin typeface="Georgia"/>
                <a:ea typeface="Georgia"/>
                <a:cs typeface="Georgia"/>
                <a:sym typeface="Georgia"/>
              </a:rPr>
              <a:t>Gas prices before and after Quarantine</a:t>
            </a:r>
            <a:endParaRPr>
              <a:solidFill>
                <a:schemeClr val="dk1"/>
              </a:solidFill>
              <a:latin typeface="Georgia"/>
              <a:ea typeface="Georgia"/>
              <a:cs typeface="Georgia"/>
              <a:sym typeface="Georgia"/>
            </a:endParaRPr>
          </a:p>
          <a:p>
            <a:pPr indent="-342900" lvl="0" marL="457200" rtl="0" algn="l">
              <a:spcBef>
                <a:spcPts val="0"/>
              </a:spcBef>
              <a:spcAft>
                <a:spcPts val="0"/>
              </a:spcAft>
              <a:buClr>
                <a:schemeClr val="dk1"/>
              </a:buClr>
              <a:buSzPts val="1800"/>
              <a:buFont typeface="Georgia"/>
              <a:buChar char="-"/>
            </a:pPr>
            <a:r>
              <a:rPr lang="en">
                <a:solidFill>
                  <a:schemeClr val="dk1"/>
                </a:solidFill>
                <a:latin typeface="Georgia"/>
                <a:ea typeface="Georgia"/>
                <a:cs typeface="Georgia"/>
                <a:sym typeface="Georgia"/>
              </a:rPr>
              <a:t>Average price of gas from 2010 - 2025</a:t>
            </a:r>
            <a:endParaRPr>
              <a:solidFill>
                <a:schemeClr val="dk1"/>
              </a:solidFill>
              <a:latin typeface="Georgia"/>
              <a:ea typeface="Georgia"/>
              <a:cs typeface="Georgia"/>
              <a:sym typeface="Georgia"/>
            </a:endParaRPr>
          </a:p>
          <a:p>
            <a:pPr indent="-342900" lvl="0" marL="457200" rtl="0" algn="l">
              <a:spcBef>
                <a:spcPts val="0"/>
              </a:spcBef>
              <a:spcAft>
                <a:spcPts val="0"/>
              </a:spcAft>
              <a:buClr>
                <a:schemeClr val="dk1"/>
              </a:buClr>
              <a:buSzPts val="1800"/>
              <a:buFont typeface="Georgia"/>
              <a:buChar char="-"/>
            </a:pPr>
            <a:r>
              <a:rPr lang="en">
                <a:solidFill>
                  <a:schemeClr val="dk1"/>
                </a:solidFill>
                <a:latin typeface="Georgia"/>
                <a:ea typeface="Georgia"/>
                <a:cs typeface="Georgia"/>
                <a:sym typeface="Georgia"/>
              </a:rPr>
              <a:t>Frequencies of gas prices before and after </a:t>
            </a:r>
            <a:r>
              <a:rPr lang="en">
                <a:solidFill>
                  <a:schemeClr val="dk1"/>
                </a:solidFill>
                <a:latin typeface="Georgia"/>
                <a:ea typeface="Georgia"/>
                <a:cs typeface="Georgia"/>
                <a:sym typeface="Georgia"/>
              </a:rPr>
              <a:t>quarantine</a:t>
            </a:r>
            <a:endParaRPr>
              <a:solidFill>
                <a:schemeClr val="dk1"/>
              </a:solidFill>
              <a:latin typeface="Georgia"/>
              <a:ea typeface="Georgia"/>
              <a:cs typeface="Georgia"/>
              <a:sym typeface="Georgia"/>
            </a:endParaRPr>
          </a:p>
        </p:txBody>
      </p:sp>
      <p:pic>
        <p:nvPicPr>
          <p:cNvPr id="99" name="Google Shape;99;p20"/>
          <p:cNvPicPr preferRelativeResize="0"/>
          <p:nvPr/>
        </p:nvPicPr>
        <p:blipFill rotWithShape="1">
          <a:blip r:embed="rId3">
            <a:alphaModFix/>
          </a:blip>
          <a:srcRect b="593" l="0" r="0" t="543"/>
          <a:stretch/>
        </p:blipFill>
        <p:spPr>
          <a:xfrm>
            <a:off x="3644425" y="117450"/>
            <a:ext cx="5315601" cy="4908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2E9"/>
        </a:solidFill>
      </p:bgPr>
    </p:bg>
    <p:spTree>
      <p:nvGrpSpPr>
        <p:cNvPr id="103" name="Shape 103"/>
        <p:cNvGrpSpPr/>
        <p:nvPr/>
      </p:nvGrpSpPr>
      <p:grpSpPr>
        <a:xfrm>
          <a:off x="0" y="0"/>
          <a:ext cx="0" cy="0"/>
          <a:chOff x="0" y="0"/>
          <a:chExt cx="0" cy="0"/>
        </a:xfrm>
      </p:grpSpPr>
      <p:sp>
        <p:nvSpPr>
          <p:cNvPr id="104" name="Google Shape;104;p21"/>
          <p:cNvSpPr txBox="1"/>
          <p:nvPr>
            <p:ph type="title"/>
          </p:nvPr>
        </p:nvSpPr>
        <p:spPr>
          <a:xfrm>
            <a:off x="130275" y="145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Pranav</a:t>
            </a:r>
            <a:endParaRPr>
              <a:latin typeface="Georgia"/>
              <a:ea typeface="Georgia"/>
              <a:cs typeface="Georgia"/>
              <a:sym typeface="Georgia"/>
            </a:endParaRPr>
          </a:p>
        </p:txBody>
      </p:sp>
      <p:pic>
        <p:nvPicPr>
          <p:cNvPr id="105" name="Google Shape;105;p21"/>
          <p:cNvPicPr preferRelativeResize="0"/>
          <p:nvPr/>
        </p:nvPicPr>
        <p:blipFill>
          <a:blip r:embed="rId3">
            <a:alphaModFix/>
          </a:blip>
          <a:stretch>
            <a:fillRect/>
          </a:stretch>
        </p:blipFill>
        <p:spPr>
          <a:xfrm>
            <a:off x="4929760" y="71774"/>
            <a:ext cx="4189301" cy="2588389"/>
          </a:xfrm>
          <a:prstGeom prst="rect">
            <a:avLst/>
          </a:prstGeom>
          <a:noFill/>
          <a:ln>
            <a:noFill/>
          </a:ln>
        </p:spPr>
      </p:pic>
      <p:pic>
        <p:nvPicPr>
          <p:cNvPr id="106" name="Google Shape;106;p21"/>
          <p:cNvPicPr preferRelativeResize="0"/>
          <p:nvPr/>
        </p:nvPicPr>
        <p:blipFill>
          <a:blip r:embed="rId4">
            <a:alphaModFix/>
          </a:blip>
          <a:stretch>
            <a:fillRect/>
          </a:stretch>
        </p:blipFill>
        <p:spPr>
          <a:xfrm>
            <a:off x="447525" y="718374"/>
            <a:ext cx="4397799" cy="2717225"/>
          </a:xfrm>
          <a:prstGeom prst="rect">
            <a:avLst/>
          </a:prstGeom>
          <a:noFill/>
          <a:ln>
            <a:noFill/>
          </a:ln>
        </p:spPr>
      </p:pic>
      <p:sp>
        <p:nvSpPr>
          <p:cNvPr id="107" name="Google Shape;107;p21"/>
          <p:cNvSpPr txBox="1"/>
          <p:nvPr/>
        </p:nvSpPr>
        <p:spPr>
          <a:xfrm>
            <a:off x="235850" y="3537850"/>
            <a:ext cx="4671600" cy="1496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Font typeface="Georgia"/>
              <a:buChar char="●"/>
            </a:pPr>
            <a:r>
              <a:rPr lang="en" sz="1300">
                <a:solidFill>
                  <a:schemeClr val="dk1"/>
                </a:solidFill>
                <a:latin typeface="Georgia"/>
                <a:ea typeface="Georgia"/>
                <a:cs typeface="Georgia"/>
                <a:sym typeface="Georgia"/>
              </a:rPr>
              <a:t>Oil and gas prices move together in the long run, but week-to-week oil price changes do not consistently lead gas price changes at a specific lag.</a:t>
            </a:r>
            <a:endParaRPr sz="13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Char char="●"/>
            </a:pPr>
            <a:r>
              <a:rPr lang="en" sz="1300">
                <a:solidFill>
                  <a:schemeClr val="dk1"/>
                </a:solidFill>
                <a:latin typeface="Georgia"/>
                <a:ea typeface="Georgia"/>
                <a:cs typeface="Georgia"/>
                <a:sym typeface="Georgia"/>
              </a:rPr>
              <a:t>When oil prices rise or fall for long periods, gas prices follow the same pattern, but with smoother and slightly delayed movements.</a:t>
            </a:r>
            <a:endParaRPr sz="1300">
              <a:solidFill>
                <a:schemeClr val="dk1"/>
              </a:solidFill>
              <a:latin typeface="Georgia"/>
              <a:ea typeface="Georgia"/>
              <a:cs typeface="Georgia"/>
              <a:sym typeface="Georgia"/>
            </a:endParaRPr>
          </a:p>
        </p:txBody>
      </p:sp>
      <p:pic>
        <p:nvPicPr>
          <p:cNvPr id="108" name="Google Shape;108;p21"/>
          <p:cNvPicPr preferRelativeResize="0"/>
          <p:nvPr/>
        </p:nvPicPr>
        <p:blipFill>
          <a:blip r:embed="rId5">
            <a:alphaModFix/>
          </a:blip>
          <a:stretch>
            <a:fillRect/>
          </a:stretch>
        </p:blipFill>
        <p:spPr>
          <a:xfrm>
            <a:off x="5098844" y="2689064"/>
            <a:ext cx="3948627" cy="2439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2E9"/>
        </a:solidFill>
      </p:bgPr>
    </p:bg>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Georgia"/>
                <a:ea typeface="Georgia"/>
                <a:cs typeface="Georgia"/>
                <a:sym typeface="Georgia"/>
              </a:rPr>
              <a:t>Kerry </a:t>
            </a:r>
            <a:endParaRPr>
              <a:latin typeface="Georgia"/>
              <a:ea typeface="Georgia"/>
              <a:cs typeface="Georgia"/>
              <a:sym typeface="Georgia"/>
            </a:endParaRPr>
          </a:p>
        </p:txBody>
      </p:sp>
      <p:sp>
        <p:nvSpPr>
          <p:cNvPr id="114" name="Google Shape;114;p22"/>
          <p:cNvSpPr txBox="1"/>
          <p:nvPr>
            <p:ph idx="1" type="body"/>
          </p:nvPr>
        </p:nvSpPr>
        <p:spPr>
          <a:xfrm>
            <a:off x="311700" y="1127550"/>
            <a:ext cx="3316800" cy="34164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dk1"/>
              </a:buClr>
              <a:buSzPts val="1300"/>
              <a:buFont typeface="Georgia"/>
              <a:buChar char="●"/>
            </a:pPr>
            <a:r>
              <a:rPr lang="en" sz="1300">
                <a:solidFill>
                  <a:schemeClr val="dk1"/>
                </a:solidFill>
                <a:latin typeface="Georgia"/>
                <a:ea typeface="Georgia"/>
                <a:cs typeface="Georgia"/>
                <a:sym typeface="Georgia"/>
              </a:rPr>
              <a:t>Gas prices move slowly most of the time, but real pain comes from short shock periods.</a:t>
            </a:r>
            <a:br>
              <a:rPr lang="en" sz="1300">
                <a:solidFill>
                  <a:schemeClr val="dk1"/>
                </a:solidFill>
                <a:latin typeface="Georgia"/>
                <a:ea typeface="Georgia"/>
                <a:cs typeface="Georgia"/>
                <a:sym typeface="Georgia"/>
              </a:rPr>
            </a:br>
            <a:endParaRPr sz="13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Char char="●"/>
            </a:pPr>
            <a:r>
              <a:rPr lang="en" sz="1300">
                <a:solidFill>
                  <a:schemeClr val="dk1"/>
                </a:solidFill>
                <a:latin typeface="Georgia"/>
                <a:ea typeface="Georgia"/>
                <a:cs typeface="Georgia"/>
                <a:sym typeface="Georgia"/>
              </a:rPr>
              <a:t>2008 and 2022 stand out as unusually extreme weeks, not just high prices.</a:t>
            </a:r>
            <a:br>
              <a:rPr lang="en" sz="1300">
                <a:solidFill>
                  <a:schemeClr val="dk1"/>
                </a:solidFill>
                <a:latin typeface="Georgia"/>
                <a:ea typeface="Georgia"/>
                <a:cs typeface="Georgia"/>
                <a:sym typeface="Georgia"/>
              </a:rPr>
            </a:br>
            <a:endParaRPr sz="13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Char char="●"/>
            </a:pPr>
            <a:r>
              <a:rPr lang="en" sz="1300">
                <a:solidFill>
                  <a:schemeClr val="dk1"/>
                </a:solidFill>
                <a:latin typeface="Georgia"/>
                <a:ea typeface="Georgia"/>
                <a:cs typeface="Georgia"/>
                <a:sym typeface="Georgia"/>
              </a:rPr>
              <a:t>The market is a range, not a single price, spreads widen during instability.</a:t>
            </a:r>
            <a:br>
              <a:rPr lang="en" sz="1300">
                <a:solidFill>
                  <a:schemeClr val="dk1"/>
                </a:solidFill>
                <a:latin typeface="Georgia"/>
                <a:ea typeface="Georgia"/>
                <a:cs typeface="Georgia"/>
                <a:sym typeface="Georgia"/>
              </a:rPr>
            </a:br>
            <a:endParaRPr sz="13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Char char="●"/>
            </a:pPr>
            <a:r>
              <a:rPr lang="en" sz="1300">
                <a:solidFill>
                  <a:schemeClr val="dk1"/>
                </a:solidFill>
                <a:latin typeface="Georgia"/>
                <a:ea typeface="Georgia"/>
                <a:cs typeface="Georgia"/>
                <a:sym typeface="Georgia"/>
              </a:rPr>
              <a:t>Seasonality explains routine swings, but not major price spikes.</a:t>
            </a:r>
            <a:endParaRPr sz="2000">
              <a:latin typeface="Georgia"/>
              <a:ea typeface="Georgia"/>
              <a:cs typeface="Georgia"/>
              <a:sym typeface="Georgia"/>
            </a:endParaRPr>
          </a:p>
        </p:txBody>
      </p:sp>
      <p:pic>
        <p:nvPicPr>
          <p:cNvPr id="115" name="Google Shape;115;p22" title="Screenshot 2026-01-19 at 10.10.42 PM.png"/>
          <p:cNvPicPr preferRelativeResize="0"/>
          <p:nvPr/>
        </p:nvPicPr>
        <p:blipFill>
          <a:blip r:embed="rId3">
            <a:alphaModFix/>
          </a:blip>
          <a:stretch>
            <a:fillRect/>
          </a:stretch>
        </p:blipFill>
        <p:spPr>
          <a:xfrm>
            <a:off x="3675025" y="804772"/>
            <a:ext cx="5413274" cy="35339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2E9"/>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149475" y="727050"/>
            <a:ext cx="3145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latin typeface="Georgia"/>
                <a:ea typeface="Georgia"/>
                <a:cs typeface="Georgia"/>
                <a:sym typeface="Georgia"/>
              </a:rPr>
              <a:t>Killer Graph</a:t>
            </a:r>
            <a:endParaRPr b="1" sz="3420">
              <a:latin typeface="Georgia"/>
              <a:ea typeface="Georgia"/>
              <a:cs typeface="Georgia"/>
              <a:sym typeface="Georgia"/>
            </a:endParaRPr>
          </a:p>
        </p:txBody>
      </p:sp>
      <p:pic>
        <p:nvPicPr>
          <p:cNvPr id="121" name="Google Shape;121;p23"/>
          <p:cNvPicPr preferRelativeResize="0"/>
          <p:nvPr/>
        </p:nvPicPr>
        <p:blipFill>
          <a:blip r:embed="rId3">
            <a:alphaModFix/>
          </a:blip>
          <a:stretch>
            <a:fillRect/>
          </a:stretch>
        </p:blipFill>
        <p:spPr>
          <a:xfrm>
            <a:off x="3458845" y="0"/>
            <a:ext cx="5155010" cy="5143500"/>
          </a:xfrm>
          <a:prstGeom prst="rect">
            <a:avLst/>
          </a:prstGeom>
          <a:noFill/>
          <a:ln>
            <a:noFill/>
          </a:ln>
        </p:spPr>
      </p:pic>
      <p:sp>
        <p:nvSpPr>
          <p:cNvPr id="122" name="Google Shape;122;p23"/>
          <p:cNvSpPr txBox="1"/>
          <p:nvPr/>
        </p:nvSpPr>
        <p:spPr>
          <a:xfrm>
            <a:off x="149475" y="1587025"/>
            <a:ext cx="30000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Georgia"/>
                <a:ea typeface="Georgia"/>
                <a:cs typeface="Georgia"/>
                <a:sym typeface="Georgia"/>
              </a:rPr>
              <a:t>T</a:t>
            </a:r>
            <a:r>
              <a:rPr lang="en" sz="1500">
                <a:solidFill>
                  <a:schemeClr val="dk1"/>
                </a:solidFill>
                <a:latin typeface="Georgia"/>
                <a:ea typeface="Georgia"/>
                <a:cs typeface="Georgia"/>
                <a:sym typeface="Georgia"/>
              </a:rPr>
              <a:t>o answer our initial question: Is diesel more volatile?</a:t>
            </a:r>
            <a:endParaRPr sz="1500">
              <a:solidFill>
                <a:schemeClr val="dk1"/>
              </a:solidFill>
              <a:latin typeface="Georgia"/>
              <a:ea typeface="Georgia"/>
              <a:cs typeface="Georgia"/>
              <a:sym typeface="Georgia"/>
            </a:endParaRPr>
          </a:p>
          <a:p>
            <a:pPr indent="457200" lvl="0" marL="914400" rtl="0" algn="l">
              <a:spcBef>
                <a:spcPts val="0"/>
              </a:spcBef>
              <a:spcAft>
                <a:spcPts val="0"/>
              </a:spcAft>
              <a:buNone/>
            </a:pPr>
            <a:r>
              <a:rPr lang="en" sz="1500">
                <a:solidFill>
                  <a:schemeClr val="dk1"/>
                </a:solidFill>
                <a:latin typeface="Georgia"/>
                <a:ea typeface="Georgia"/>
                <a:cs typeface="Georgia"/>
                <a:sym typeface="Georgia"/>
              </a:rPr>
              <a:t>Historically, no. </a:t>
            </a:r>
            <a:endParaRPr sz="1500">
              <a:solidFill>
                <a:schemeClr val="dk1"/>
              </a:solidFill>
              <a:latin typeface="Georgia"/>
              <a:ea typeface="Georgia"/>
              <a:cs typeface="Georgia"/>
              <a:sym typeface="Georgia"/>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a:p>
            <a:pPr indent="0" lvl="0" marL="0" rtl="0" algn="l">
              <a:spcBef>
                <a:spcPts val="0"/>
              </a:spcBef>
              <a:spcAft>
                <a:spcPts val="0"/>
              </a:spcAft>
              <a:buNone/>
            </a:pPr>
            <a:r>
              <a:rPr lang="en" sz="1500">
                <a:solidFill>
                  <a:schemeClr val="dk1"/>
                </a:solidFill>
                <a:latin typeface="Georgia"/>
                <a:ea typeface="Georgia"/>
                <a:cs typeface="Georgia"/>
                <a:sym typeface="Georgia"/>
              </a:rPr>
              <a:t>But in a post-COVID world, the rules changed. We aren't just paying more; we are living in a much more unpredictable energy market.</a:t>
            </a:r>
            <a:endParaRPr sz="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